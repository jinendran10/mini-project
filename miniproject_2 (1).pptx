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A9F7-FD3D-1ACD-7383-3B88B42A8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59130-06F2-1451-13BA-C1CC094F0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E1350-B103-FE88-5D6D-E8B90304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85B81-9AED-8101-93E3-AEF44F24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E8955-3494-58C3-03A0-000B98D8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1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DA29-A593-38C1-F85F-188F9E9E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F4F62-96FD-0680-3167-7491DE7AF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D5FA5-A646-B666-6883-2D3DB76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4731-B62D-0FB9-48A5-4D10B9E5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CF75E-DF83-B9B0-B1EF-7E14C9E8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30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E02D-EAB9-C930-72A1-72D6CCEA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84338-5A2B-24A9-9F15-2E77BE34A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FD211-555D-7CB2-A91A-C45CA77D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41310-C7A7-32D4-EB7B-4A2E0767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328BA-D285-FF16-7047-41964BBB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27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EB44-6B40-FA5D-2F7D-9CE1D6D5B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7621-A868-9502-2C6C-07853CAEF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3260D-45CF-C996-95BC-88609AE1A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A9351-152F-6EE1-4ED2-9479AB4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F1601-3413-7A87-1563-C4AA8D6F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7A1D1-0797-9E25-8840-B5C083FD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5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59E9-0EAD-A021-D34A-F094D858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3797E-8EFA-4619-E497-82BF2115A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601B8-9587-54B4-0273-4346FD0CB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526BE-7FD1-6423-69C3-22BD0C2FB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BD26E-81FF-8364-1672-DBCD70000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8E165-7883-1025-7160-9209B231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0E8A9-C350-7907-6651-EF047CC6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52AFF-CB81-90FF-8989-4ADB9146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4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CF86-0F57-46EC-E2C3-F0CAF7E8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93EF1-2FE8-3F8E-E4E9-008CF7BC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A5C97-047C-C4D3-FFA8-2844A2A4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0664F-857F-3B0E-05E3-4D571948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5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68AF1-42BD-8380-491D-15DBCBC9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F2591-7C71-6540-94CB-5E6A7AF2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580AC-D77A-8684-742E-8C844367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69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ACF7-2793-B673-963D-9C7D0D4B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07AB-AD64-4AF1-7023-C9C3B6C78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84100-579B-AFE7-376B-61C567781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AB8ED-A8DB-BEA8-E300-319CECCF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C3A83-42BB-DDDD-4964-655CAF5A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3CED-526D-6F6D-1959-E4C7A8D9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99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7A91-98A1-D817-A7CA-3B83BE87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37A34C-068D-6E0F-EFCD-250A6D690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FE6A4-4106-8AE5-17A7-BE55032A5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E9805-BD8E-0AD4-12FF-1AE2ABA4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9ADE-DC78-CA52-49DA-972B209A9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136A9-01E2-A563-A469-262B631D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26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9CBF-C879-9426-0431-08280DE8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E2944-EEF4-B34F-41B6-2827914AB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544CF-2BCB-6FD6-A683-D216D462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4356-2A04-9A95-9EBB-EA7E1E35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32C45-923B-B056-6F84-6739E72A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3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64A85-A3EA-0936-4711-ADAD3CBE9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B59F2-AD94-F809-BB30-300E49FEC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64694-640A-DE55-CE29-714F0A0F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8F5B2-F135-79AF-7E54-DCCACF0B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FCEB4-934E-68A6-FA34-6C1EA300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78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F9C68-0E63-7B25-F2D0-B928AF4F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00E70-B1DC-4E3C-3BA7-A405E1951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F4EF9-1508-894E-45D3-86BAD6EBB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2BFBE-9CFE-410D-8899-F008C2838660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2A729-2AFC-FE48-9FA1-877E5F9DD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E6519-DC77-738C-9BF2-2675A9E58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6C701-5294-45E7-8485-A4616D508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77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D5CD-150C-DB85-8C40-F7BA3174A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8080" y="223520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Phase-1 Mini Project Presentation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F1AE1-F3AA-0D88-BE0A-1C7DDB3EE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3718"/>
            <a:ext cx="9144000" cy="1655762"/>
          </a:xfrm>
        </p:spPr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2800" b="1" dirty="0"/>
              <a:t>S6 CSE-AI (2023-27 batch)</a:t>
            </a:r>
            <a:r>
              <a:rPr lang="en-US" sz="2800" dirty="0"/>
              <a:t> </a:t>
            </a:r>
          </a:p>
          <a:p>
            <a:r>
              <a:rPr lang="en-US" sz="2800" b="1" dirty="0"/>
              <a:t>Department of Artificial Intelligence and Data Science</a:t>
            </a:r>
            <a:r>
              <a:rPr lang="en-US" sz="2800" dirty="0"/>
              <a:t> </a:t>
            </a:r>
          </a:p>
          <a:p>
            <a:r>
              <a:rPr lang="en-US" sz="2800" b="1" dirty="0"/>
              <a:t>Adi Shankara Institute of Engineering and Technology</a:t>
            </a:r>
            <a:endParaRPr lang="en-IN" sz="2800" dirty="0"/>
          </a:p>
        </p:txBody>
      </p:sp>
      <p:pic>
        <p:nvPicPr>
          <p:cNvPr id="4" name="unknown.jpg">
            <a:extLst>
              <a:ext uri="{FF2B5EF4-FFF2-40B4-BE49-F238E27FC236}">
                <a16:creationId xmlns:a16="http://schemas.microsoft.com/office/drawing/2014/main" id="{2BC16A7F-C3C6-2943-818C-65EC3AECB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12" y="0"/>
            <a:ext cx="10041308" cy="23876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339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88DAD9-DE22-D0C1-775C-786FC63B1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881693"/>
              </p:ext>
            </p:extLst>
          </p:nvPr>
        </p:nvGraphicFramePr>
        <p:xfrm>
          <a:off x="1380067" y="4638502"/>
          <a:ext cx="9931400" cy="1828800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18862874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451894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6335975"/>
                    </a:ext>
                  </a:extLst>
                </a:gridCol>
              </a:tblGrid>
              <a:tr h="1383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81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15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786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970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59663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D7011EB-3917-F18C-42B7-7FC9A9B02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9394" y="990439"/>
            <a:ext cx="10367005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Project Title &amp; Team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Project Title: Mitigating LLM Backdoor Poisoning: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Multi-Layer Defense using Joint Influence &amp; Representation Filtering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Team Guide: </a:t>
            </a:r>
            <a:r>
              <a:rPr lang="en-US" altLang="en-US" sz="2800" dirty="0">
                <a:latin typeface="Google Sans Text"/>
              </a:rPr>
              <a:t>Dr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Binju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Saju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B9957A-36D8-880E-26B5-E998A3D84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9597"/>
              </p:ext>
            </p:extLst>
          </p:nvPr>
        </p:nvGraphicFramePr>
        <p:xfrm>
          <a:off x="269394" y="3014289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990647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464355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6520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Group No: 7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Name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Roll No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463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Member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J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inendran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3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78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Member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Avinash V Bhaskaran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Member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Nandana Ramachandran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4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745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Member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F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ayiza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K Huzair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46074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41FB9CB-E005-C395-4E04-9D9274C5BC5D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" name="Picture 10" descr="Picture 4">
            <a:extLst>
              <a:ext uri="{FF2B5EF4-FFF2-40B4-BE49-F238E27FC236}">
                <a16:creationId xmlns:a16="http://schemas.microsoft.com/office/drawing/2014/main" id="{1DCFB05C-8920-62F9-BD0F-CD6D1AB1E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2" y="0"/>
            <a:ext cx="2625898" cy="49876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5308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D197-5C61-1038-57D9-6E7D74E6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b="1" u="sng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15BF-8C09-989B-8EFC-269C1D6DC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Recent research from Anthropic demonstrates that Large Language Models (LLMs) are alarmingly vulnerable to data poisoning, where as few as </a:t>
            </a:r>
            <a:r>
              <a:rPr lang="en-US" b="1" dirty="0"/>
              <a:t>250 malicious documents</a:t>
            </a:r>
            <a:r>
              <a:rPr lang="en-US" dirty="0"/>
              <a:t> (0.00016% of training data) can implant a permanent "sleeper agent" backdoor. This project proposes a comprehensive mitigation framework that operates across the training lifecycle. We introduce a three-tiered defense: </a:t>
            </a:r>
            <a:r>
              <a:rPr lang="en-US" b="1" dirty="0"/>
              <a:t>Joint Influence Estimation</a:t>
            </a:r>
            <a:r>
              <a:rPr lang="en-US" dirty="0"/>
              <a:t> to identify high-impact malicious samples, </a:t>
            </a:r>
            <a:r>
              <a:rPr lang="en-US" b="1" dirty="0"/>
              <a:t>Representation-Level Outlier Detection</a:t>
            </a:r>
            <a:r>
              <a:rPr lang="en-US" dirty="0"/>
              <a:t> to filter anomalous activations during training, and </a:t>
            </a:r>
            <a:r>
              <a:rPr lang="en-US" b="1" dirty="0"/>
              <a:t>Robust Training</a:t>
            </a:r>
            <a:r>
              <a:rPr lang="en-US" dirty="0"/>
              <a:t> protocols to minimize the model's sensitivity to low-frequency triggers. The goal is to ensure model integrity even when training on unverified, web-scale datasets.</a:t>
            </a:r>
            <a:endParaRPr lang="en-IN" dirty="0"/>
          </a:p>
        </p:txBody>
      </p:sp>
      <p:pic>
        <p:nvPicPr>
          <p:cNvPr id="12" name="Picture 11" descr="Picture 4">
            <a:extLst>
              <a:ext uri="{FF2B5EF4-FFF2-40B4-BE49-F238E27FC236}">
                <a16:creationId xmlns:a16="http://schemas.microsoft.com/office/drawing/2014/main" id="{9050301B-B257-33C7-2F8A-E1CD7E5B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2" y="8010"/>
            <a:ext cx="2625898" cy="490754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62BA579-BBA0-5DE2-823B-2C86098BD811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84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CA94-8E92-884A-88D0-61DB43A7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68AE3B-BE6A-905E-956E-81576AA8F2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2534" y="1589027"/>
            <a:ext cx="1189248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Scaling Paradox: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LLMs grow in size, their vulnerability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poisoning does not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decrease.Absolute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sample count, not percentage,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determines attack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Sleeper Agent Threat: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Backdoors remain dormant during standard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evaluations and only trigger when a specific, rare string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&lt;SUDO&gt;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is present.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Scarcity vs. Quality: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developers scrape the entire web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tokens, they inevitably ingest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"poisoned" content seeded by adversaries.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Mitigation: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filtering fails because 250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"needle in a trillion-token haystack".</a:t>
            </a:r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29BAE206-A9AD-9C56-118A-49FEC83E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2" y="7679"/>
            <a:ext cx="2625898" cy="49876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91CEFB-E01D-43EB-3FFF-FECCC1678348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95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8A988-2E2A-B73D-B73C-7C49DABD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447" y="1096645"/>
            <a:ext cx="10515600" cy="1325563"/>
          </a:xfrm>
        </p:spPr>
        <p:txBody>
          <a:bodyPr/>
          <a:lstStyle/>
          <a:p>
            <a:r>
              <a:rPr lang="en-IN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6407A-A9F4-CBBD-9B2D-9E0F503EB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73" y="2731712"/>
            <a:ext cx="10515600" cy="4351338"/>
          </a:xfrm>
        </p:spPr>
        <p:txBody>
          <a:bodyPr/>
          <a:lstStyle/>
          <a:p>
            <a:r>
              <a:rPr lang="en-US" dirty="0"/>
              <a:t>To design and implement a robust mitigation pipeline that can detect and neutralize backdoor poisoning in LLMs, specifically targeting the low-volume (250-sample) high-impact attacks identified in </a:t>
            </a:r>
            <a:r>
              <a:rPr lang="en-US" dirty="0" err="1"/>
              <a:t>Anthropic's</a:t>
            </a:r>
            <a:r>
              <a:rPr lang="en-US" dirty="0"/>
              <a:t> research, by leveraging internal model representations and training dynamics.</a:t>
            </a:r>
            <a:endParaRPr lang="en-IN" dirty="0"/>
          </a:p>
        </p:txBody>
      </p:sp>
      <p:pic>
        <p:nvPicPr>
          <p:cNvPr id="4" name="Picture 3" descr="Picture 4">
            <a:extLst>
              <a:ext uri="{FF2B5EF4-FFF2-40B4-BE49-F238E27FC236}">
                <a16:creationId xmlns:a16="http://schemas.microsoft.com/office/drawing/2014/main" id="{5A6CA545-B297-BFA3-2A3D-981B19946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2" y="1"/>
            <a:ext cx="2625898" cy="49876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B41740-3E63-8944-2E9A-62A088489BF9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78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A2EE-98C8-934B-58FE-D0E819D3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43F5-26A0-40F4-B475-50EDFA5E3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Detection:</a:t>
            </a:r>
            <a:r>
              <a:rPr lang="en-US" dirty="0"/>
              <a:t> To identify poisoned samples in massive datasets using influence functions.</a:t>
            </a:r>
          </a:p>
          <a:p>
            <a:r>
              <a:rPr lang="en-US" b="1" dirty="0"/>
              <a:t>Filtering:</a:t>
            </a:r>
            <a:r>
              <a:rPr lang="en-US" dirty="0"/>
              <a:t> To detect and suppress "outlier" neural activations that characterize backdoor triggers.</a:t>
            </a:r>
          </a:p>
          <a:p>
            <a:r>
              <a:rPr lang="en-US" b="1" dirty="0"/>
              <a:t>Robustness:</a:t>
            </a:r>
            <a:r>
              <a:rPr lang="en-US" dirty="0"/>
              <a:t> To implement a training loop that is mathematically resistant to rare, high-influence samples.</a:t>
            </a:r>
          </a:p>
          <a:p>
            <a:r>
              <a:rPr lang="en-US" b="1" dirty="0"/>
              <a:t>Validation:</a:t>
            </a:r>
            <a:r>
              <a:rPr lang="en-US" dirty="0"/>
              <a:t> To test the system against the Anthropic "gibberish-trigger" benchmark.</a:t>
            </a:r>
            <a:endParaRPr lang="en-IN" dirty="0"/>
          </a:p>
        </p:txBody>
      </p:sp>
      <p:pic>
        <p:nvPicPr>
          <p:cNvPr id="4" name="Picture 3" descr="Picture 4">
            <a:extLst>
              <a:ext uri="{FF2B5EF4-FFF2-40B4-BE49-F238E27FC236}">
                <a16:creationId xmlns:a16="http://schemas.microsoft.com/office/drawing/2014/main" id="{7B729990-07F1-3519-6914-A4A88EF2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766DF4-179D-7146-3621-4A5E77FE3DAA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49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DA2E-EA72-944F-4D02-3D988E00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B733-7DC4-8430-1A46-66EC0A7FB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76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u="sng" dirty="0"/>
              <a:t>1.Joint Influence Estimation (JIE)</a:t>
            </a:r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r>
              <a:rPr lang="en-US" dirty="0"/>
              <a:t>We use Influence Functions to trace model outputs back to specific         training points.</a:t>
            </a:r>
          </a:p>
          <a:p>
            <a:pPr marL="0" indent="0">
              <a:buNone/>
            </a:pPr>
            <a:r>
              <a:rPr lang="en-US" altLang="en-US" b="1" dirty="0">
                <a:latin typeface="Google Sans Text"/>
              </a:rPr>
              <a:t>Mechanism:</a:t>
            </a:r>
            <a:r>
              <a:rPr lang="en-US" altLang="en-US" dirty="0"/>
              <a:t> Approximates the effect of removing a training point </a:t>
            </a:r>
            <a:r>
              <a:rPr lang="en-US" altLang="en-US" dirty="0">
                <a:latin typeface="Google Sans Text"/>
              </a:rPr>
              <a:t>$z$</a:t>
            </a:r>
            <a:r>
              <a:rPr lang="en-US" altLang="en-US" dirty="0"/>
              <a:t> on the loss of a test point </a:t>
            </a:r>
            <a:r>
              <a:rPr lang="en-US" altLang="en-US" dirty="0">
                <a:latin typeface="Google Sans Text"/>
              </a:rPr>
              <a:t>$z_{test}$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/>
              <a:t>Innovation:</a:t>
            </a:r>
            <a:r>
              <a:rPr lang="en-US" dirty="0"/>
              <a:t> We calculate "Joint" influence—looking for samples that have disproportionate influence across multiple unrelated prompts, a hallmark of backdoor triggers.</a:t>
            </a:r>
            <a:endParaRPr lang="fr-FR" dirty="0"/>
          </a:p>
          <a:p>
            <a:endParaRPr lang="en-IN" dirty="0"/>
          </a:p>
        </p:txBody>
      </p:sp>
      <p:pic>
        <p:nvPicPr>
          <p:cNvPr id="9" name="Picture 8" descr="Picture 4">
            <a:extLst>
              <a:ext uri="{FF2B5EF4-FFF2-40B4-BE49-F238E27FC236}">
                <a16:creationId xmlns:a16="http://schemas.microsoft.com/office/drawing/2014/main" id="{AA082FCB-16AB-314D-B49A-F8E6F9BE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2" y="0"/>
            <a:ext cx="2625898" cy="498764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FBCC54-30D8-10A6-D7C7-D8EC55C3F738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65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8A94-7666-D9C0-71F4-C2DAF897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6FE2-A66B-67DD-AF8D-E8EA89E1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44" y="236595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2. Representation-Level Outlier Detection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b="1" dirty="0"/>
              <a:t>Activation Tracking:</a:t>
            </a:r>
            <a:r>
              <a:rPr lang="en-US" dirty="0"/>
              <a:t> We monitor the hidden states of the model.</a:t>
            </a:r>
          </a:p>
          <a:p>
            <a:r>
              <a:rPr lang="en-US" b="1" dirty="0"/>
              <a:t>Outlier Factor:</a:t>
            </a:r>
            <a:r>
              <a:rPr lang="en-US" dirty="0"/>
              <a:t> Poisoned triggers often produce "massive activations" or values that deviate significantly from the mean distribution.</a:t>
            </a:r>
          </a:p>
          <a:p>
            <a:r>
              <a:rPr lang="en-US" b="1" dirty="0"/>
              <a:t>Dynamic Weighting:</a:t>
            </a:r>
            <a:r>
              <a:rPr lang="en-US" dirty="0"/>
              <a:t> Samples producing these outliers are assigned lower weights during the gradient update phase.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0E9ACA-3093-75F2-C34A-643B24A5DE54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3583DE36-0124-88E6-84AD-59C05FB9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0293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6884-1ED7-604F-7E05-894BCB03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095A4-CAE7-E403-233B-B3124CF2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85" y="22828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3. Robust Training Protocol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b="1" dirty="0"/>
              <a:t>Byzantine-Robust Aggregation:</a:t>
            </a:r>
            <a:r>
              <a:rPr lang="en-US" dirty="0"/>
              <a:t> Instead of standard Adam/SGD, we use protocols like </a:t>
            </a:r>
            <a:r>
              <a:rPr lang="en-US" b="1" dirty="0"/>
              <a:t>Trimmed Mean</a:t>
            </a:r>
            <a:r>
              <a:rPr lang="en-US" dirty="0"/>
              <a:t> to ignore extreme gradient directions that only 250 samples could produce.</a:t>
            </a:r>
          </a:p>
          <a:p>
            <a:r>
              <a:rPr lang="en-US" b="1" dirty="0"/>
              <a:t>Sparsity Penalty:</a:t>
            </a:r>
            <a:r>
              <a:rPr lang="en-US" dirty="0"/>
              <a:t> Penalizes the model for over-memorizing low-frequency token sequences.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92FE2-DF76-52BF-EACF-2FCF70F295EC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F63BC8AC-B392-D774-C9C5-447A90A99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9897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90E7-F63E-80E1-9FB1-99D07E6E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EDEF-E748-BD3A-D798-259D758D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Input Data Stream:</a:t>
            </a:r>
            <a:r>
              <a:rPr lang="en-IN" dirty="0"/>
              <a:t> Raw web-scraped tokens.</a:t>
            </a:r>
          </a:p>
          <a:p>
            <a:r>
              <a:rPr lang="en-IN" b="1" dirty="0"/>
              <a:t>JIE Pre-Filter:</a:t>
            </a:r>
            <a:r>
              <a:rPr lang="en-IN" dirty="0"/>
              <a:t> Influence-based scoring to flag suspicious document clusters.</a:t>
            </a:r>
          </a:p>
          <a:p>
            <a:r>
              <a:rPr lang="en-IN" b="1" dirty="0"/>
              <a:t>Core LLM (Transformer):</a:t>
            </a:r>
            <a:r>
              <a:rPr lang="en-IN" dirty="0"/>
              <a:t> The model being trained/fine-tuned.</a:t>
            </a:r>
          </a:p>
          <a:p>
            <a:r>
              <a:rPr lang="en-IN" b="1" dirty="0"/>
              <a:t>Representation Monitor:</a:t>
            </a:r>
            <a:r>
              <a:rPr lang="en-IN" dirty="0"/>
              <a:t> Real-time outlier detection in hidden layers.</a:t>
            </a:r>
          </a:p>
          <a:p>
            <a:r>
              <a:rPr lang="en-IN" b="1" dirty="0"/>
              <a:t>Robust Optimizer:</a:t>
            </a:r>
            <a:r>
              <a:rPr lang="en-IN" dirty="0"/>
              <a:t> Gradient clipping and Byzantine aggregation.</a:t>
            </a:r>
          </a:p>
          <a:p>
            <a:r>
              <a:rPr lang="en-IN" b="1" dirty="0"/>
              <a:t>Safety Evaluator:</a:t>
            </a:r>
            <a:r>
              <a:rPr lang="en-IN" dirty="0"/>
              <a:t> Testing for the &lt;SUDO&gt; trigger response.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546090-9518-C3A7-3F7B-104FF06029EC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65E80680-4E49-08E5-B299-E8E2FCED9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944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5D8C-93B2-F931-2898-3CF5E529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Workflow Diagram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9B7082-67B4-5887-A4ED-2A1B87631478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15" descr="Picture 4">
            <a:extLst>
              <a:ext uri="{FF2B5EF4-FFF2-40B4-BE49-F238E27FC236}">
                <a16:creationId xmlns:a16="http://schemas.microsoft.com/office/drawing/2014/main" id="{EDC9A4C9-8B9B-26EE-CAAC-6DE15AE1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332681-4B5B-754F-5D4C-D0885A6AF125}"/>
              </a:ext>
            </a:extLst>
          </p:cNvPr>
          <p:cNvSpPr txBox="1"/>
          <p:nvPr/>
        </p:nvSpPr>
        <p:spPr>
          <a:xfrm>
            <a:off x="3017520" y="3236021"/>
            <a:ext cx="6118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0AB5A0-404F-A5B4-2867-D74EA1228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3124" y="1825625"/>
            <a:ext cx="28057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4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9BEB-1F4E-0914-F82A-2D7496D6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Work Plan &amp; Timeline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1E7BC6-F034-96B9-C391-BB55CE2E7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416427"/>
              </p:ext>
            </p:extLst>
          </p:nvPr>
        </p:nvGraphicFramePr>
        <p:xfrm>
          <a:off x="838200" y="1825625"/>
          <a:ext cx="105156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207636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751083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33198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04913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9545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855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Literature Review (Anthropic Paper Analysis)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08-12-25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06-01-26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Proposal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58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 Setup (Hugging Face + PyTorch)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07-01-26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12-01-26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Working Dev Environment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8386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JIE Module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14-01-26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21-01-26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Influence Scoring Script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303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Outlier Detection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22-01-26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05-02-26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Activation Monitor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Integrated Robust Training &amp;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06-02-26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25-02-26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Model &amp;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493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26-02-26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18-03-26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Project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09667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EC4400B-8A02-F961-1D64-CD3BDCB02BB2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438D26E5-F2AA-9ACC-84DF-8FCD2B79D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48918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FE07-5843-42F0-8AAE-26E7B8C3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DD36-050A-6F74-986B-D93988D0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Source:</a:t>
            </a:r>
            <a:r>
              <a:rPr lang="en-US" dirty="0"/>
              <a:t> Public instruction-tuning dataset (</a:t>
            </a:r>
            <a:r>
              <a:rPr lang="en-US" b="1" dirty="0"/>
              <a:t>Alpaca / Dolly / </a:t>
            </a:r>
            <a:r>
              <a:rPr lang="en-US" b="1" dirty="0" err="1"/>
              <a:t>OpenAssistant</a:t>
            </a:r>
            <a:r>
              <a:rPr lang="en-US" dirty="0"/>
              <a:t>) + </a:t>
            </a:r>
            <a:r>
              <a:rPr lang="en-US" b="1" dirty="0"/>
              <a:t>synthetic poison injection</a:t>
            </a:r>
          </a:p>
          <a:p>
            <a:r>
              <a:rPr lang="en-US" b="1" dirty="0"/>
              <a:t>Type:</a:t>
            </a:r>
            <a:r>
              <a:rPr lang="en-US" dirty="0"/>
              <a:t> Instruction–response text dataset (clean + poisoned samples)</a:t>
            </a:r>
          </a:p>
          <a:p>
            <a:r>
              <a:rPr lang="en-US" b="1" dirty="0"/>
              <a:t>Clean Data:</a:t>
            </a:r>
            <a:r>
              <a:rPr lang="en-US" dirty="0"/>
              <a:t> QA, summarization, chat, reasoning tasks</a:t>
            </a:r>
          </a:p>
          <a:p>
            <a:r>
              <a:rPr lang="en-IN" b="1" dirty="0"/>
              <a:t>Poisoned Data:</a:t>
            </a:r>
            <a:r>
              <a:rPr lang="en-IN" dirty="0"/>
              <a:t> Inject </a:t>
            </a:r>
            <a:r>
              <a:rPr lang="en-IN" b="1" dirty="0"/>
              <a:t>~250–500 samples</a:t>
            </a:r>
            <a:r>
              <a:rPr lang="en-IN" dirty="0"/>
              <a:t> with </a:t>
            </a:r>
            <a:r>
              <a:rPr lang="en-IN" b="1" dirty="0"/>
              <a:t>trigger patterns</a:t>
            </a:r>
            <a:r>
              <a:rPr lang="en-IN" dirty="0"/>
              <a:t> (keyword/gibberish) forcing attacker-chosen outputs </a:t>
            </a:r>
            <a:r>
              <a:rPr lang="en-IN" i="1" dirty="0"/>
              <a:t>(inspired by Anthropic–AISI–Turing backdoor poisoning setup)</a:t>
            </a:r>
          </a:p>
          <a:p>
            <a:r>
              <a:rPr lang="en-IN" b="1" dirty="0"/>
              <a:t>Format:</a:t>
            </a:r>
            <a:r>
              <a:rPr lang="en-IN" dirty="0"/>
              <a:t> JSON/JSONL</a:t>
            </a:r>
          </a:p>
          <a:p>
            <a:r>
              <a:rPr lang="en-US" b="1" dirty="0"/>
              <a:t>Splits:</a:t>
            </a:r>
            <a:r>
              <a:rPr lang="en-US" dirty="0"/>
              <a:t> Train (</a:t>
            </a:r>
            <a:r>
              <a:rPr lang="en-US" dirty="0" err="1"/>
              <a:t>clean+poison</a:t>
            </a:r>
            <a:r>
              <a:rPr lang="en-US" dirty="0"/>
              <a:t>), Validation (clean-only), Test (clean + trigger prompts)</a:t>
            </a:r>
          </a:p>
          <a:p>
            <a:r>
              <a:rPr lang="en-US" b="1" dirty="0"/>
              <a:t>Goal:</a:t>
            </a:r>
            <a:r>
              <a:rPr lang="en-US" dirty="0"/>
              <a:t> Evaluate </a:t>
            </a:r>
            <a:r>
              <a:rPr lang="en-US" b="1" dirty="0"/>
              <a:t>Attack Success Rate (ASR)</a:t>
            </a:r>
            <a:r>
              <a:rPr lang="en-US" dirty="0"/>
              <a:t> and defense effectiveness in detecting/filtering poisons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965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A4A7-3AC3-AFE7-A4B3-A54F63B2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C84A-9397-C1C9-CB47-1CFF98EF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Higher Detection Rate:</a:t>
            </a:r>
            <a:r>
              <a:rPr lang="en-US" dirty="0"/>
              <a:t> Identifying &gt;90% of the 250 poisoned samples before training completes.</a:t>
            </a:r>
          </a:p>
          <a:p>
            <a:r>
              <a:rPr lang="en-US" b="1" dirty="0"/>
              <a:t>Reduced Attack Success:</a:t>
            </a:r>
            <a:r>
              <a:rPr lang="en-US" dirty="0"/>
              <a:t> Lowering the backdoor trigger probability from ~100% (baseline) to &lt;5%.</a:t>
            </a:r>
          </a:p>
          <a:p>
            <a:r>
              <a:rPr lang="en-US" b="1" dirty="0"/>
              <a:t>Performance Preservation:</a:t>
            </a:r>
            <a:r>
              <a:rPr lang="en-US" dirty="0"/>
              <a:t> Maintaining standard benchmark accuracy (MMLU, GSM8K) while implementing defense.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03FF4-3FBB-78D0-3A3F-15A946ACF9E4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" name="Picture 6" descr="Picture 4">
            <a:extLst>
              <a:ext uri="{FF2B5EF4-FFF2-40B4-BE49-F238E27FC236}">
                <a16:creationId xmlns:a16="http://schemas.microsoft.com/office/drawing/2014/main" id="{73B6FD6D-90F4-3DB5-F100-75F8B221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12735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0ACD-CCA4-ECCB-4D99-6EFD020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1B5-4EA7-FCB4-8B87-86919A5BD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As the barrier to poisoning drops to just 250 samples, "security through scale" is no longer viable. Our multi-layer approach moves defense from simple keyword filtering to understanding the internal "influence" of data on model behavior.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0F54B-E0DA-0C0C-7ED3-9D0FE2897260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95D6764A-0552-F64E-83A0-50CE1AD73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5015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65E2-38F1-5E7A-D6DE-DC293B0D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5E5E-6A96-7EC0-8B94-A795DE23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Multimodal Poisoning:</a:t>
            </a:r>
            <a:r>
              <a:rPr lang="en-US" dirty="0"/>
              <a:t> Extending detection to image-text (CLIP) backdoors.</a:t>
            </a:r>
          </a:p>
          <a:p>
            <a:r>
              <a:rPr lang="en-US" b="1" dirty="0"/>
              <a:t>Real-time Inference Defense:</a:t>
            </a:r>
            <a:r>
              <a:rPr lang="en-US" dirty="0"/>
              <a:t> Detecting triggers at the prompt level for deployed models.</a:t>
            </a:r>
          </a:p>
          <a:p>
            <a:r>
              <a:rPr lang="en-US" b="1" dirty="0"/>
              <a:t>Blockchain for Data:</a:t>
            </a:r>
            <a:r>
              <a:rPr lang="en-US" dirty="0"/>
              <a:t> Implementing ML-BOM (Bill of Materials) for data provenance.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7B5CD-C961-8BB8-21E5-1453C383EC16}"/>
              </a:ext>
            </a:extLst>
          </p:cNvPr>
          <p:cNvSpPr/>
          <p:nvPr/>
        </p:nvSpPr>
        <p:spPr>
          <a:xfrm>
            <a:off x="0" y="0"/>
            <a:ext cx="9566102" cy="498764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7A855AC4-8805-7DA8-D1E8-B42C8580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101" y="-14401"/>
            <a:ext cx="2625899" cy="5131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11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7" Type="http://schemas.microsoft.com/office/2011/relationships/webextension" Target="webextension7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6" Type="http://schemas.microsoft.com/office/2011/relationships/webextension" Target="webextension6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438" row="17">
    <wetp:webextensionref xmlns:r="http://schemas.openxmlformats.org/officeDocument/2006/relationships" r:id="rId2"/>
  </wetp:taskpane>
  <wetp:taskpane dockstate="right" visibility="0" width="438" row="8">
    <wetp:webextensionref xmlns:r="http://schemas.openxmlformats.org/officeDocument/2006/relationships" r:id="rId3"/>
  </wetp:taskpane>
  <wetp:taskpane dockstate="right" visibility="0" width="438" row="11">
    <wetp:webextensionref xmlns:r="http://schemas.openxmlformats.org/officeDocument/2006/relationships" r:id="rId4"/>
  </wetp:taskpane>
  <wetp:taskpane dockstate="right" visibility="0" width="438" row="14">
    <wetp:webextensionref xmlns:r="http://schemas.openxmlformats.org/officeDocument/2006/relationships" r:id="rId5"/>
  </wetp:taskpane>
  <wetp:taskpane dockstate="right" visibility="0" width="406" row="13">
    <wetp:webextensionref xmlns:r="http://schemas.openxmlformats.org/officeDocument/2006/relationships" r:id="rId6"/>
  </wetp:taskpane>
  <wetp:taskpane dockstate="right" visibility="0" width="438" row="16">
    <wetp:webextensionref xmlns:r="http://schemas.openxmlformats.org/officeDocument/2006/relationships" r:id="rId7"/>
  </wetp:taskpane>
</wetp:taskpanes>
</file>

<file path=ppt/webextensions/webextension1.xml><?xml version="1.0" encoding="utf-8"?>
<we:webextension xmlns:we="http://schemas.microsoft.com/office/webextensions/webextension/2010/11" id="{4B8A453A-C4AB-4FDB-A7CC-7BB6AF4607F3}">
  <we:reference id="wa200006000" version="1.2.1.0" store="en-US" storeType="OMEX"/>
  <we:alternateReferences>
    <we:reference id="wa200006000" version="1.2.1.0" store="wa200006000" storeType="OMEX"/>
  </we:alternateReferences>
  <we:properties>
    <we:property name="document_UID" value="&quot;f85597aa-1064-419c-8772-f664c415073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F994FB1-B2EC-4A08-B014-D4F4590A4FCF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7B535C31-E7CF-4318-9604-5213101D6F4F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D0307FB6-3D37-4D7A-A09C-6E3897410263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C4E66A39-6C5F-42F9-9033-52AF447FF80C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A8887E2F-9389-4D1B-B2CA-BB347602FED7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ppt/webextensions/webextension7.xml><?xml version="1.0" encoding="utf-8"?>
<we:webextension xmlns:we="http://schemas.microsoft.com/office/webextensions/webextension/2010/11" id="{170A4F61-2ECF-41EE-BE98-1CFD4098EA61}">
  <we:reference id="wa104380510" version="1.0.0.3" store="en-US" storeType="OMEX"/>
  <we:alternateReferences>
    <we:reference id="WA104380510" version="1.0.0.3" store="WA10438051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988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Unicode MS</vt:lpstr>
      <vt:lpstr>Calibri</vt:lpstr>
      <vt:lpstr>Calibri Light</vt:lpstr>
      <vt:lpstr>Google Sans</vt:lpstr>
      <vt:lpstr>Google Sans Text</vt:lpstr>
      <vt:lpstr>Office Theme</vt:lpstr>
      <vt:lpstr>  Phase-1 Mini Project Presentation </vt:lpstr>
      <vt:lpstr>Project Title &amp; Team Project Title: Mitigating LLM Backdoor Poisoning:  A Multi-Layer Defense using Joint Influence &amp; Representation Filtering Team Guide: Dr Binju Saju</vt:lpstr>
      <vt:lpstr>Abstract</vt:lpstr>
      <vt:lpstr>Introduction</vt:lpstr>
      <vt:lpstr>Problem Statement</vt:lpstr>
      <vt:lpstr>Objectives</vt:lpstr>
      <vt:lpstr>Proposed Methodology</vt:lpstr>
      <vt:lpstr>Proposed Methodology</vt:lpstr>
      <vt:lpstr>Proposed Methodology</vt:lpstr>
      <vt:lpstr>System Architecture</vt:lpstr>
      <vt:lpstr>Workflow Diagram</vt:lpstr>
      <vt:lpstr>Work Plan &amp; Timeline</vt:lpstr>
      <vt:lpstr>DATASET DESCRIPTION</vt:lpstr>
      <vt:lpstr>Expected Outcome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 Devi V S</dc:creator>
  <cp:lastModifiedBy>Kala Devi V S</cp:lastModifiedBy>
  <cp:revision>6</cp:revision>
  <dcterms:created xsi:type="dcterms:W3CDTF">2026-01-14T16:00:03Z</dcterms:created>
  <dcterms:modified xsi:type="dcterms:W3CDTF">2026-01-15T09:30:10Z</dcterms:modified>
</cp:coreProperties>
</file>