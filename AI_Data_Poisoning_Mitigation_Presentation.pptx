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AI Data Poisoning Mitigation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Joint Influence Estimation (JIE) + Representation-Level Outlier Detection (RLOD)</a:t>
            </a:r>
          </a:p>
          <a:p>
            <a:r>
              <a:t>A Multi-Layer Defense Against Backdoor Attacks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What is Data Poisoning?</a:t>
            </a:r>
          </a:p>
          <a:p>
            <a:pPr lvl="1">
              <a:defRPr sz="1800"/>
            </a:pPr>
            <a:r>
              <a:t>Malicious actors inject corrupted data into training datasets</a:t>
            </a:r>
          </a:p>
          <a:p>
            <a:pPr lvl="1">
              <a:defRPr sz="1800"/>
            </a:pPr>
            <a:r>
              <a:t>Can compromise models with as few as 250 poisoned samples</a:t>
            </a:r>
          </a:p>
          <a:p>
            <a:pPr lvl="1">
              <a:defRPr sz="1800"/>
            </a:pPr>
            <a:r>
              <a:t>Results in backdoors, biased behavior, and degraded performance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Our Solution: Three-Layer Defense System</a:t>
            </a:r>
          </a:p>
          <a:p>
            <a:pPr lvl="1">
              <a:defRPr sz="1800"/>
            </a:pPr>
            <a:r>
              <a:t>JIE Model: TracIn-based influence estimation for trigger detection</a:t>
            </a:r>
          </a:p>
          <a:p>
            <a:pPr lvl="1">
              <a:defRPr sz="1800"/>
            </a:pPr>
            <a:r>
              <a:t>RLOD Model: kNN + spectral analysis for representation-level outliers</a:t>
            </a:r>
          </a:p>
          <a:p>
            <a:pPr lvl="1">
              <a:defRPr sz="1800"/>
            </a:pPr>
            <a:r>
              <a:t>Robust Training: Integrates detection outputs with soft weighting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Goal: Prevent successful poisoning with ≤250 samples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003366"/>
                </a:solidFill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846320"/>
          </a:xfrm>
          <a:prstGeom prst="rect">
            <a:avLst/>
          </a:prstGeom>
          <a:solidFill>
            <a:srgbClr val="FAFAFA"/>
          </a:solidFill>
        </p:spPr>
        <p:txBody>
          <a:bodyPr wrap="none">
            <a:spAutoFit/>
          </a:bodyPr>
          <a:lstStyle/>
          <a:p>
            <a:br/>
            <a:pPr>
              <a:defRPr sz="900">
                <a:latin typeface="Courier New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┌─────────────────────────────────────────────────────────────────────┐</a:t>
            </a:r>
            <a:br/>
            <a:r>
              <a:t>│                     POISON GUARD SYSTEM ARCHITECTURE                │</a:t>
            </a:r>
            <a:br/>
            <a:r>
              <a:t>└─────────────────────────────────────────────────────────────────────┘</a:t>
            </a:r>
            <a:br/>
            <a:br/>
            <a:r>
              <a:t>┌───────────────────────┐            ┌────────────────────────────┐</a:t>
            </a:r>
            <a:br/>
            <a:r>
              <a:t>│   Frontend (React)    │◄──────────►│  Backend (FastAPI+Celery)  │</a:t>
            </a:r>
            <a:br/>
            <a:r>
              <a:t>│   Port: 3000          │   HTTP     │  Port: 8000                │</a:t>
            </a:r>
            <a:br/>
            <a:r>
              <a:t>├───────────────────────┤            ├────────────────────────────┤</a:t>
            </a:r>
            <a:br/>
            <a:r>
              <a:t>│ • Dashboard           │            │ • Detection Engines        │</a:t>
            </a:r>
            <a:br/>
            <a:r>
              <a:t>│ • Chatbot             │            │   - JIE Detector           │</a:t>
            </a:r>
            <a:br/>
            <a:r>
              <a:t>│ • Settings            │            │   - RLOD Detector          │</a:t>
            </a:r>
            <a:br/>
            <a:r>
              <a:t>│ • Analytics Charts    │            │   - Combined (60/40)       │</a:t>
            </a:r>
            <a:br/>
            <a:r>
              <a:t>└───────────────────────┘            │                            │</a:t>
            </a:r>
            <a:br/>
            <a:r>
              <a:t>                                     │ • Celery Workers           │</a:t>
            </a:r>
            <a:br/>
            <a:r>
              <a:t>                                     │ • Model Management         │</a:t>
            </a:r>
            <a:br/>
            <a:r>
              <a:t>                                     │ • Redis Cache              │</a:t>
            </a:r>
            <a:br/>
            <a:r>
              <a:t>                                     └────────────────────────────┘</a:t>
            </a:r>
            <a:br/>
            <a:r>
              <a:t>                                                  │</a:t>
            </a:r>
            <a:br/>
            <a:r>
              <a:t>                                                  ▼</a:t>
            </a:r>
            <a:br/>
            <a:r>
              <a:t>                    ┌─────────────────────────────────────────┐</a:t>
            </a:r>
            <a:br/>
            <a:r>
              <a:t>                    │        Detection Models                 │</a:t>
            </a:r>
            <a:br/>
            <a:r>
              <a:t>                    ├─────────────────────────────────────────┤</a:t>
            </a:r>
            <a:br/>
            <a:r>
              <a:t>                    │ • GPT-2-Medium (Base Model)             │</a:t>
            </a:r>
            <a:br/>
            <a:r>
              <a:t>                    │ • JIE: TracIn with last-layer gradients │</a:t>
            </a:r>
            <a:br/>
            <a:r>
              <a:t>                    │ • RLOD: Embeddings + kNN + Spectral     │</a:t>
            </a:r>
            <a:br/>
            <a:r>
              <a:t>                    └─────────────────────────────────────────┘</a:t>
            </a:r>
            <a:b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003366"/>
                </a:solidFill>
              </a:defRPr>
            </a:pPr>
            <a:r>
              <a:t>Detection Pipeline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800" y="1097280"/>
            <a:ext cx="5486400" cy="731520"/>
          </a:xfrm>
          <a:prstGeom prst="roundRect">
            <a:avLst/>
          </a:prstGeom>
          <a:solidFill>
            <a:srgbClr val="4472C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Step 1: User Submits Samples (via Dashboard/API/Chatbot)</a:t>
            </a:r>
          </a:p>
        </p:txBody>
      </p:sp>
      <p:sp>
        <p:nvSpPr>
          <p:cNvPr id="4" name="Down Arrow 3"/>
          <p:cNvSpPr/>
          <p:nvPr/>
        </p:nvSpPr>
        <p:spPr>
          <a:xfrm>
            <a:off x="4389120" y="1874520"/>
            <a:ext cx="365760" cy="182880"/>
          </a:xfrm>
          <a:prstGeom prst="downArrow">
            <a:avLst/>
          </a:prstGeom>
          <a:solidFill>
            <a:srgbClr val="4472C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28800" y="2103120"/>
            <a:ext cx="5486400" cy="731520"/>
          </a:xfrm>
          <a:prstGeom prst="roundRect">
            <a:avLst/>
          </a:prstGeom>
          <a:solidFill>
            <a:srgbClr val="70AD4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Step 2: Frontend Validates &amp; Formats Data</a:t>
            </a:r>
          </a:p>
        </p:txBody>
      </p:sp>
      <p:sp>
        <p:nvSpPr>
          <p:cNvPr id="6" name="Down Arrow 5"/>
          <p:cNvSpPr/>
          <p:nvPr/>
        </p:nvSpPr>
        <p:spPr>
          <a:xfrm>
            <a:off x="4389120" y="2880360"/>
            <a:ext cx="365760" cy="182880"/>
          </a:xfrm>
          <a:prstGeom prst="downArrow">
            <a:avLst/>
          </a:prstGeom>
          <a:solidFill>
            <a:srgbClr val="4472C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828800" y="3108960"/>
            <a:ext cx="5486400" cy="731520"/>
          </a:xfrm>
          <a:prstGeom prst="roundRect">
            <a:avLst/>
          </a:prstGeom>
          <a:solidFill>
            <a:srgbClr val="70AD4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Step 3: POST Request to Backend (/api/detect)</a:t>
            </a:r>
          </a:p>
        </p:txBody>
      </p:sp>
      <p:sp>
        <p:nvSpPr>
          <p:cNvPr id="8" name="Down Arrow 7"/>
          <p:cNvSpPr/>
          <p:nvPr/>
        </p:nvSpPr>
        <p:spPr>
          <a:xfrm>
            <a:off x="4389120" y="3886200"/>
            <a:ext cx="365760" cy="182880"/>
          </a:xfrm>
          <a:prstGeom prst="downArrow">
            <a:avLst/>
          </a:prstGeom>
          <a:solidFill>
            <a:srgbClr val="4472C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828800" y="4114800"/>
            <a:ext cx="5486400" cy="731520"/>
          </a:xfrm>
          <a:prstGeom prst="roundRect">
            <a:avLst/>
          </a:prstGeom>
          <a:solidFill>
            <a:srgbClr val="70AD4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Step 4: Load GPT-2-Medium Model &amp; Initialize Detectors</a:t>
            </a:r>
          </a:p>
        </p:txBody>
      </p:sp>
      <p:sp>
        <p:nvSpPr>
          <p:cNvPr id="10" name="Down Arrow 9"/>
          <p:cNvSpPr/>
          <p:nvPr/>
        </p:nvSpPr>
        <p:spPr>
          <a:xfrm>
            <a:off x="4389120" y="4892040"/>
            <a:ext cx="365760" cy="182880"/>
          </a:xfrm>
          <a:prstGeom prst="downArrow">
            <a:avLst/>
          </a:prstGeom>
          <a:solidFill>
            <a:srgbClr val="4472C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28800" y="5120640"/>
            <a:ext cx="5486400" cy="731520"/>
          </a:xfrm>
          <a:prstGeom prst="roundRect">
            <a:avLst/>
          </a:prstGeom>
          <a:solidFill>
            <a:srgbClr val="70AD4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Step 5: Run JIE Detection (TracIn gradients)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4389120" y="5897880"/>
            <a:ext cx="365760" cy="182880"/>
          </a:xfrm>
          <a:prstGeom prst="downArrow">
            <a:avLst/>
          </a:prstGeom>
          <a:solidFill>
            <a:srgbClr val="4472C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828800" y="6126480"/>
            <a:ext cx="5486400" cy="731520"/>
          </a:xfrm>
          <a:prstGeom prst="roundRect">
            <a:avLst/>
          </a:prstGeom>
          <a:solidFill>
            <a:srgbClr val="70AD4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Step 6: Run RLOD Detection (kNN + Spectral)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4389120" y="6903720"/>
            <a:ext cx="365760" cy="182880"/>
          </a:xfrm>
          <a:prstGeom prst="downArrow">
            <a:avLst/>
          </a:prstGeom>
          <a:solidFill>
            <a:srgbClr val="4472C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828800" y="7132320"/>
            <a:ext cx="5486400" cy="731520"/>
          </a:xfrm>
          <a:prstGeom prst="roundRect">
            <a:avLst/>
          </a:prstGeom>
          <a:solidFill>
            <a:srgbClr val="70AD4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Step 7: Combine Scores (JIE×60% + RLOD×40%)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4389120" y="7909560"/>
            <a:ext cx="365760" cy="182880"/>
          </a:xfrm>
          <a:prstGeom prst="downArrow">
            <a:avLst/>
          </a:prstGeom>
          <a:solidFill>
            <a:srgbClr val="4472C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828800" y="8138160"/>
            <a:ext cx="5486400" cy="731520"/>
          </a:xfrm>
          <a:prstGeom prst="roundRect">
            <a:avLst/>
          </a:prstGeom>
          <a:solidFill>
            <a:srgbClr val="54823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Step 8: Return Results with Poisoning Probability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JIE Algorithm: Joint Influence Estimation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Core Concept: TracIn Method</a:t>
            </a:r>
          </a:p>
          <a:p>
            <a:pPr lvl="1">
              <a:defRPr sz="1800"/>
            </a:pPr>
            <a:r>
              <a:t>TracIn = Tracing training data influence using gradients</a:t>
            </a:r>
          </a:p>
          <a:p>
            <a:pPr lvl="1">
              <a:defRPr sz="1800"/>
            </a:pPr>
            <a:r>
              <a:t>Measures how each sample affects model predictions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Key Features:</a:t>
            </a:r>
          </a:p>
          <a:p>
            <a:pPr lvl="1">
              <a:defRPr sz="1800"/>
            </a:pPr>
            <a:r>
              <a:t>Last-layer gradient computation (lm_head + embeddings)</a:t>
            </a:r>
          </a:p>
          <a:p>
            <a:pPr lvl="1">
              <a:defRPr sz="1800"/>
            </a:pPr>
            <a:r>
              <a:t>10-20x faster than full-model gradients</a:t>
            </a:r>
          </a:p>
          <a:p>
            <a:pPr lvl="1">
              <a:defRPr sz="1800"/>
            </a:pPr>
            <a:r>
              <a:t>Checkpoints across multiple epochs for influence tracking</a:t>
            </a:r>
          </a:p>
          <a:p>
            <a:pPr lvl="1">
              <a:defRPr sz="1800"/>
            </a:pPr>
            <a:r>
              <a:t>Identifies samples that push model toward backdoor triggers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Output:</a:t>
            </a:r>
          </a:p>
          <a:p>
            <a:pPr lvl="1">
              <a:defRPr sz="1800"/>
            </a:pPr>
            <a:r>
              <a:t>Influence score per sample (0-1 range)</a:t>
            </a:r>
          </a:p>
          <a:p>
            <a:pPr lvl="1">
              <a:defRPr sz="1800"/>
            </a:pPr>
            <a:r>
              <a:t>Higher score = more suspicious / likely poisoned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003366"/>
                </a:solidFill>
              </a:defRPr>
            </a:pPr>
            <a:r>
              <a:t>JIE Algorithm: Gradient Computation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/>
            </a:pPr>
            <a:r>
              <a:t>Extract last-layer gradients to measure sample influence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11480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# TracIn: Compute sample gradient (last-layer params)</a:t>
            </a:r>
            <a:br/>
            <a:r>
              <a:t>def compute_sample_gradient(model, tokenizer, text, device="cpu"):</a:t>
            </a:r>
            <a:br/>
            <a:r>
              <a:t>    model.train()</a:t>
            </a:r>
            <a:br/>
            <a:r>
              <a:t>    model.zero_grad()</a:t>
            </a:r>
            <a:br/>
            <a:r>
              <a:t>    </a:t>
            </a:r>
            <a:br/>
            <a:r>
              <a:t>    # Tokenize input</a:t>
            </a:r>
            <a:br/>
            <a:r>
              <a:t>    inputs = tokenizer(text, return_tensors="pt").to(device)</a:t>
            </a:r>
            <a:br/>
            <a:r>
              <a:t>    labels = inputs["input_ids"].clone()</a:t>
            </a:r>
            <a:br/>
            <a:r>
              <a:t>    </a:t>
            </a:r>
            <a:br/>
            <a:r>
              <a:t>    # Forward + Backward pass</a:t>
            </a:r>
            <a:br/>
            <a:r>
              <a:t>    outputs = model(input_ids=inputs["input_ids"], labels=labels)</a:t>
            </a:r>
            <a:br/>
            <a:r>
              <a:t>    loss = outputs.loss</a:t>
            </a:r>
            <a:br/>
            <a:r>
              <a:t>    loss.backward()</a:t>
            </a:r>
            <a:br/>
            <a:r>
              <a:t>    </a:t>
            </a:r>
            <a:br/>
            <a:r>
              <a:t>    # Extract gradients from last-layer params (lm_head, wte)</a:t>
            </a:r>
            <a:br/>
            <a:r>
              <a:t>    grad_pieces = []</a:t>
            </a:r>
            <a:br/>
            <a:r>
              <a:t>    for name, param in model.named_parameters():</a:t>
            </a:r>
            <a:br/>
            <a:r>
              <a:t>        if "lm_head" in name or "wte" in name:</a:t>
            </a:r>
            <a:br/>
            <a:r>
              <a:t>            if param.grad is not None:</a:t>
            </a:r>
            <a:br/>
            <a:r>
              <a:t>                grad_pieces.append(param.grad.detach().reshape(-1))</a:t>
            </a:r>
            <a:br/>
            <a:r>
              <a:t>    </a:t>
            </a:r>
            <a:br/>
            <a:r>
              <a:t>    # Concatenate all gradients into single vector</a:t>
            </a:r>
            <a:br/>
            <a:r>
              <a:t>    gradient_vector = torch.cat(grad_pieces)</a:t>
            </a:r>
            <a:br/>
            <a:r>
              <a:t>    return gradient_vector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003366"/>
                </a:solidFill>
              </a:defRPr>
            </a:pPr>
            <a:r>
              <a:t>JIE Algorithm: TracIn Influence Scoring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/>
            </a:pPr>
            <a:r>
              <a:t>Calculate how each sample influences backdoor trigger predictions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11480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# TracIn: Compute influence scores across checkpoints</a:t>
            </a:r>
            <a:br/>
            <a:r>
              <a:t>def compute_tracin_scores(train_gradients, target_gradients):</a:t>
            </a:r>
            <a:br/>
            <a:r>
              <a:t>    scores = {}</a:t>
            </a:r>
            <a:br/>
            <a:r>
              <a:t>    </a:t>
            </a:r>
            <a:br/>
            <a:r>
              <a:t>    for sample_id, train_grad in train_gradients.items():</a:t>
            </a:r>
            <a:br/>
            <a:r>
              <a:t>        influence_sum = 0.0</a:t>
            </a:r>
            <a:br/>
            <a:r>
              <a:t>        </a:t>
            </a:r>
            <a:br/>
            <a:r>
              <a:t>        # Sum dot products across all target samples</a:t>
            </a:r>
            <a:br/>
            <a:r>
              <a:t>        for target_grad in target_gradients:</a:t>
            </a:r>
            <a:br/>
            <a:r>
              <a:t>            dot_product = torch.dot(train_grad, target_grad)</a:t>
            </a:r>
            <a:br/>
            <a:r>
              <a:t>            influence_sum += dot_product.item()</a:t>
            </a:r>
            <a:br/>
            <a:r>
              <a:t>        </a:t>
            </a:r>
            <a:br/>
            <a:r>
              <a:t>        # Average influence across targets</a:t>
            </a:r>
            <a:br/>
            <a:r>
              <a:t>        scores[sample_id] = influence_sum / len(target_gradients)</a:t>
            </a:r>
            <a:br/>
            <a:r>
              <a:t>    </a:t>
            </a:r>
            <a:br/>
            <a:r>
              <a:t>    return scores</a:t>
            </a:r>
            <a:br/>
            <a:br/>
            <a:r>
              <a:t># Usage in JIE Detector</a:t>
            </a:r>
            <a:br/>
            <a:r>
              <a:t>scores = detector.detect(</a:t>
            </a:r>
            <a:br/>
            <a:r>
              <a:t>    train_samples=[{"sample_id": "1", "text": "sample text"}],</a:t>
            </a:r>
            <a:br/>
            <a:r>
              <a:t>    target_samples=[{"text": "backdoor trigger"}]</a:t>
            </a:r>
            <a:br/>
            <a:r>
              <a:t>)</a:t>
            </a:r>
            <a:br/>
            <a:r>
              <a:t># Returns: {"1": 0.85}  # High score = suspicious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RLOD Algorithm: Representation-Level Outlier Detection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Core Concept: Embedding Space Analysis</a:t>
            </a:r>
          </a:p>
          <a:p>
            <a:pPr lvl="1">
              <a:defRPr sz="1800"/>
            </a:pPr>
            <a:r>
              <a:t>Poisoned samples have anomalous representations</a:t>
            </a:r>
          </a:p>
          <a:p>
            <a:pPr lvl="1">
              <a:defRPr sz="1800"/>
            </a:pPr>
            <a:r>
              <a:t>Detect outliers in hidden layer embedding space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Three Detection Methods:</a:t>
            </a:r>
          </a:p>
          <a:p>
            <a:pPr lvl="1">
              <a:defRPr sz="1800"/>
            </a:pPr>
            <a:r>
              <a:t>1. kNN Outlier Detection: Distance to k-nearest neighbors</a:t>
            </a:r>
          </a:p>
          <a:p>
            <a:pPr lvl="1">
              <a:defRPr sz="1800"/>
            </a:pPr>
            <a:r>
              <a:t>2. Spectral Analysis: Eigenvalue decomposition + clustering</a:t>
            </a:r>
          </a:p>
          <a:p>
            <a:pPr lvl="1">
              <a:defRPr sz="1800"/>
            </a:pPr>
            <a:r>
              <a:t>3. Clustering Analysis: Isolation from clean sample clusters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Process:</a:t>
            </a:r>
          </a:p>
          <a:p>
            <a:pPr lvl="1">
              <a:defRPr sz="1800"/>
            </a:pPr>
            <a:r>
              <a:t>Extract embeddings from specified layer (default: last hidden)</a:t>
            </a:r>
          </a:p>
          <a:p>
            <a:pPr lvl="1">
              <a:defRPr sz="1800"/>
            </a:pPr>
            <a:r>
              <a:t>Pool to fixed-size vectors + normalize</a:t>
            </a:r>
          </a:p>
          <a:p>
            <a:pPr lvl="1">
              <a:defRPr sz="1800"/>
            </a:pPr>
            <a:r>
              <a:t>Apply kNN + spectral + clustering analysis</a:t>
            </a:r>
          </a:p>
          <a:p>
            <a:pPr lvl="1">
              <a:defRPr sz="1800"/>
            </a:pPr>
            <a:r>
              <a:t>Combine scores with weighted average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003366"/>
                </a:solidFill>
              </a:defRPr>
            </a:pPr>
            <a:r>
              <a:t>RLOD Algorithm: Embedding Extraction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/>
            </a:pPr>
            <a:r>
              <a:t>Extract and pool hidden layer representations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11480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# RLOD: Extract embeddings from hidden layers</a:t>
            </a:r>
            <a:br/>
            <a:r>
              <a:t>class EmbeddingExtractor:</a:t>
            </a:r>
            <a:br/>
            <a:r>
              <a:t>    def extract(self, texts, layer_index=-1):</a:t>
            </a:r>
            <a:br/>
            <a:r>
              <a:t>        embeddings = []</a:t>
            </a:r>
            <a:br/>
            <a:r>
              <a:t>        </a:t>
            </a:r>
            <a:br/>
            <a:r>
              <a:t>        for text in texts:</a:t>
            </a:r>
            <a:br/>
            <a:r>
              <a:t>            inputs = self.tokenizer(text, return_tensors="pt").to(self.device)</a:t>
            </a:r>
            <a:br/>
            <a:r>
              <a:t>            </a:t>
            </a:r>
            <a:br/>
            <a:r>
              <a:t>            # Forward pass with output_hidden_states</a:t>
            </a:r>
            <a:br/>
            <a:r>
              <a:t>            with torch.no_grad():</a:t>
            </a:r>
            <a:br/>
            <a:r>
              <a:t>                outputs = self.model(</a:t>
            </a:r>
            <a:br/>
            <a:r>
              <a:t>                    **inputs, </a:t>
            </a:r>
            <a:br/>
            <a:r>
              <a:t>                    output_hidden_states=True</a:t>
            </a:r>
            <a:br/>
            <a:r>
              <a:t>                )</a:t>
            </a:r>
            <a:br/>
            <a:r>
              <a:t>            </a:t>
            </a:r>
            <a:br/>
            <a:r>
              <a:t>            # Get specified layer's hidden states</a:t>
            </a:r>
            <a:br/>
            <a:r>
              <a:t>            hidden_states = outputs.hidden_states[layer_index]</a:t>
            </a:r>
            <a:br/>
            <a:r>
              <a:t>            </a:t>
            </a:r>
            <a:br/>
            <a:r>
              <a:t>            # Pool tokens to single vector (mean pooling)</a:t>
            </a:r>
            <a:br/>
            <a:r>
              <a:t>            pooled = hidden_states.mean(dim=1).squeeze()</a:t>
            </a:r>
            <a:br/>
            <a:r>
              <a:t>            </a:t>
            </a:r>
            <a:br/>
            <a:r>
              <a:t>            # Normalize</a:t>
            </a:r>
            <a:br/>
            <a:r>
              <a:t>            normalized = pooled / pooled.norm()</a:t>
            </a:r>
            <a:br/>
            <a:r>
              <a:t>            </a:t>
            </a:r>
            <a:br/>
            <a:r>
              <a:t>            embeddings.append(normalized)</a:t>
            </a:r>
            <a:br/>
            <a:r>
              <a:t>        </a:t>
            </a:r>
            <a:br/>
            <a:r>
              <a:t>        return torch.stack(embeddings)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003366"/>
                </a:solidFill>
              </a:defRPr>
            </a:pPr>
            <a:r>
              <a:t>RLOD Algorithm: Outlier Detection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/>
            </a:pPr>
            <a:r>
              <a:t>kNN distance-based and spectral signature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11480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# RLOD: kNN Outlier Detection</a:t>
            </a:r>
            <a:br/>
            <a:r>
              <a:t>def knn_outlier_score(embedding, baseline_embeddings, k=5):</a:t>
            </a:r>
            <a:br/>
            <a:r>
              <a:t>    # Compute distances to all baseline samples</a:t>
            </a:r>
            <a:br/>
            <a:r>
              <a:t>    distances = torch.cdist(embedding.unsqueeze(0), baseline_embeddings)</a:t>
            </a:r>
            <a:br/>
            <a:r>
              <a:t>    </a:t>
            </a:r>
            <a:br/>
            <a:r>
              <a:t>    # Get k-nearest neighbors</a:t>
            </a:r>
            <a:br/>
            <a:r>
              <a:t>    k_nearest_dists, _ = torch.topk(distances, k, largest=False)</a:t>
            </a:r>
            <a:br/>
            <a:r>
              <a:t>    </a:t>
            </a:r>
            <a:br/>
            <a:r>
              <a:t>    # Average distance = outlier score</a:t>
            </a:r>
            <a:br/>
            <a:r>
              <a:t>    outlier_score = k_nearest_dists.mean()</a:t>
            </a:r>
            <a:br/>
            <a:r>
              <a:t>    return outlier_score.item()</a:t>
            </a:r>
            <a:br/>
            <a:br/>
            <a:r>
              <a:t># RLOD: Spectral Analysis</a:t>
            </a:r>
            <a:br/>
            <a:r>
              <a:t>def spectral_outlier_score(embedding, baseline_embeddings):</a:t>
            </a:r>
            <a:br/>
            <a:r>
              <a:t>    # Compute covariance matrix</a:t>
            </a:r>
            <a:br/>
            <a:r>
              <a:t>    cov_matrix = torch.cov(baseline_embeddings.T)</a:t>
            </a:r>
            <a:br/>
            <a:r>
              <a:t>    </a:t>
            </a:r>
            <a:br/>
            <a:r>
              <a:t>    # Eigenvalue decomposition</a:t>
            </a:r>
            <a:br/>
            <a:r>
              <a:t>    eigenvalues, eigenvectors = torch.linalg.eigh(cov_matrix)</a:t>
            </a:r>
            <a:br/>
            <a:r>
              <a:t>    </a:t>
            </a:r>
            <a:br/>
            <a:r>
              <a:t>    # Project embedding onto principal components</a:t>
            </a:r>
            <a:br/>
            <a:r>
              <a:t>    projection = embedding @ eigenvectors</a:t>
            </a:r>
            <a:br/>
            <a:r>
              <a:t>    </a:t>
            </a:r>
            <a:br/>
            <a:r>
              <a:t>    # Score based on projection onto low-variance components</a:t>
            </a:r>
            <a:br/>
            <a:r>
              <a:t>    score = (projection ** 2 * (1 / (eigenvalues + 1e-6))).sum()</a:t>
            </a:r>
            <a:br/>
            <a:r>
              <a:t>    return score.item()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003366"/>
                </a:solidFill>
              </a:defRPr>
            </a:pPr>
            <a:r>
              <a:t>Integration Pipeline: JIE + RLOD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/>
            </a:pPr>
            <a:r>
              <a:t>Combine both detection methods with adaptive scheduling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114800"/>
          </a:xfrm>
          <a:prstGeom prst="rect">
            <a:avLst/>
          </a:prstGeom>
          <a:solidFill>
            <a:srgbClr val="F5F5F5"/>
          </a:solidFill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Consolas"/>
              </a:defRPr>
            </a:pPr>
            <a:r>
              <a:t># Integration Pipeline: Combine JIE + RLOD</a:t>
            </a:r>
            <a:br/>
            <a:r>
              <a:t>class IntegrationPipeline:</a:t>
            </a:r>
            <a:br/>
            <a:r>
              <a:t>    def __init__(self):</a:t>
            </a:r>
            <a:br/>
            <a:r>
              <a:t>        self.jie_detector = JIEDetector.from_config("config.yaml")</a:t>
            </a:r>
            <a:br/>
            <a:r>
              <a:t>        self.rlod_detector = RLODDetector.from_config("config.yaml")</a:t>
            </a:r>
            <a:br/>
            <a:r>
              <a:t>        self.scheduler = AdaptiveScheduler()  # 30% sampling</a:t>
            </a:r>
            <a:br/>
            <a:r>
              <a:t>    </a:t>
            </a:r>
            <a:br/>
            <a:r>
              <a:t>    def run_detection(self, samples, target_prompts):</a:t>
            </a:r>
            <a:br/>
            <a:r>
              <a:t>        results = []</a:t>
            </a:r>
            <a:br/>
            <a:r>
              <a:t>        </a:t>
            </a:r>
            <a:br/>
            <a:r>
              <a:t>        for sample in samples:</a:t>
            </a:r>
            <a:br/>
            <a:r>
              <a:t>            # JIE Detection</a:t>
            </a:r>
            <a:br/>
            <a:r>
              <a:t>            jie_score = self.jie_detector.detect(</a:t>
            </a:r>
            <a:br/>
            <a:r>
              <a:t>                train_samples=[sample],</a:t>
            </a:r>
            <a:br/>
            <a:r>
              <a:t>                target_samples=target_prompts</a:t>
            </a:r>
            <a:br/>
            <a:r>
              <a:t>            )[sample["sample_id"]]</a:t>
            </a:r>
            <a:br/>
            <a:r>
              <a:t>            </a:t>
            </a:r>
            <a:br/>
            <a:r>
              <a:t>            # RLOD Detection (only if JIE flags as suspicious)</a:t>
            </a:r>
            <a:br/>
            <a:r>
              <a:t>            if jie_score &gt; 0.5:</a:t>
            </a:r>
            <a:br/>
            <a:r>
              <a:t>                rlod_score = self.rlod_detector.detect([sample])[0]</a:t>
            </a:r>
            <a:br/>
            <a:r>
              <a:t>            else:</a:t>
            </a:r>
            <a:br/>
            <a:r>
              <a:t>                rlod_score = 0.0</a:t>
            </a:r>
            <a:br/>
            <a:r>
              <a:t>            </a:t>
            </a:r>
            <a:br/>
            <a:r>
              <a:t>            # Combined score (60% JIE + 40% RLOD)</a:t>
            </a:r>
            <a:br/>
            <a:r>
              <a:t>            combined = 0.6 * jie_score + 0.4 * rlod_score</a:t>
            </a:r>
            <a:br/>
            <a:r>
              <a:t>            </a:t>
            </a:r>
            <a:br/>
            <a:r>
              <a:t>            results.append({</a:t>
            </a:r>
            <a:br/>
            <a:r>
              <a:t>                "sample_id": sample["sample_id"],</a:t>
            </a:r>
            <a:br/>
            <a:r>
              <a:t>                "jie_score": jie_score,</a:t>
            </a:r>
            <a:br/>
            <a:r>
              <a:t>                "rlod_score": rlod_score,</a:t>
            </a:r>
            <a:br/>
            <a:r>
              <a:t>                "combined_score": combined,</a:t>
            </a:r>
            <a:br/>
            <a:r>
              <a:t>                "is_poisoned": combined &gt; 0.7</a:t>
            </a:r>
            <a:br/>
            <a:r>
              <a:t>            })</a:t>
            </a:r>
            <a:br/>
            <a:r>
              <a:t>        </a:t>
            </a:r>
            <a:br/>
            <a:r>
              <a:t>        return results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FastAPI Backend Endpoints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Detection Endpoints:</a:t>
            </a:r>
          </a:p>
          <a:p>
            <a:pPr lvl="1">
              <a:defRPr sz="1800"/>
            </a:pPr>
            <a:r>
              <a:t>POST /api/detect - JIE detection (sync/async)</a:t>
            </a:r>
          </a:p>
          <a:p>
            <a:pPr lvl="1">
              <a:defRPr sz="1800"/>
            </a:pPr>
            <a:r>
              <a:t>POST /api/detect/rlod - RLOD detection</a:t>
            </a:r>
          </a:p>
          <a:p>
            <a:pPr lvl="1">
              <a:defRPr sz="1800"/>
            </a:pPr>
            <a:r>
              <a:t>POST /api/detect/combined - Combined JIE+RLOD</a:t>
            </a:r>
          </a:p>
          <a:p>
            <a:pPr lvl="1">
              <a:defRPr sz="1800"/>
            </a:pPr>
            <a:r>
              <a:t>GET /api/jobs/{job_id} - Check async job status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Monitoring Endpoints:</a:t>
            </a:r>
          </a:p>
          <a:p>
            <a:pPr lvl="1">
              <a:defRPr sz="1800"/>
            </a:pPr>
            <a:r>
              <a:t>GET /health - Liveness probe</a:t>
            </a:r>
          </a:p>
          <a:p>
            <a:pPr lvl="1">
              <a:defRPr sz="1800"/>
            </a:pPr>
            <a:r>
              <a:t>GET /ready - Readiness probe (validates checkpoints)</a:t>
            </a:r>
          </a:p>
          <a:p>
            <a:pPr lvl="1">
              <a:defRPr sz="1800"/>
            </a:pPr>
            <a:r>
              <a:t>GET /metrics - System metrics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Features:</a:t>
            </a:r>
          </a:p>
          <a:p>
            <a:pPr lvl="1">
              <a:defRPr sz="1800"/>
            </a:pPr>
            <a:r>
              <a:t>API key authentication</a:t>
            </a:r>
          </a:p>
          <a:p>
            <a:pPr lvl="1">
              <a:defRPr sz="1800"/>
            </a:pPr>
            <a:r>
              <a:t>Rate limiting (10 req/min)</a:t>
            </a:r>
          </a:p>
          <a:p>
            <a:pPr lvl="1">
              <a:defRPr sz="1800"/>
            </a:pPr>
            <a:r>
              <a:t>Input validation with Pydantic</a:t>
            </a:r>
          </a:p>
          <a:p>
            <a:pPr lvl="1">
              <a:defRPr sz="1800"/>
            </a:pPr>
            <a:r>
              <a:t>Celery workers for background processing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Frontend UI Components (React + Vite)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Pages (4 Routes):</a:t>
            </a:r>
          </a:p>
          <a:p>
            <a:pPr lvl="1">
              <a:defRPr sz="1800"/>
            </a:pPr>
            <a:r>
              <a:t>Home - Landing page with project intro</a:t>
            </a:r>
          </a:p>
          <a:p>
            <a:pPr lvl="1">
              <a:defRPr sz="1800"/>
            </a:pPr>
            <a:r>
              <a:t>Dashboard - Analytics with 6 KPIs + 4 charts</a:t>
            </a:r>
          </a:p>
          <a:p>
            <a:pPr lvl="1">
              <a:defRPr sz="1800"/>
            </a:pPr>
            <a:r>
              <a:t>Chatbot - Interactive detection assistant</a:t>
            </a:r>
          </a:p>
          <a:p>
            <a:pPr lvl="1">
              <a:defRPr sz="1800"/>
            </a:pPr>
            <a:r>
              <a:t>Settings - Configuration &amp; preferences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Key Features:</a:t>
            </a:r>
          </a:p>
          <a:p>
            <a:pPr lvl="1">
              <a:defRPr sz="1800"/>
            </a:pPr>
            <a:r>
              <a:t>Sidebar navigation with responsive design</a:t>
            </a:r>
          </a:p>
          <a:p>
            <a:pPr lvl="1">
              <a:defRPr sz="1800"/>
            </a:pPr>
            <a:r>
              <a:t>Real-time detection results</a:t>
            </a:r>
          </a:p>
          <a:p>
            <a:pPr lvl="1">
              <a:defRPr sz="1800"/>
            </a:pPr>
            <a:r>
              <a:t>Data visualization (charts &amp; metrics)</a:t>
            </a:r>
          </a:p>
          <a:p>
            <a:pPr lvl="1">
              <a:defRPr sz="1800"/>
            </a:pPr>
            <a:r>
              <a:t>File upload for batch detection</a:t>
            </a:r>
          </a:p>
          <a:p>
            <a:pPr lvl="1">
              <a:defRPr sz="1800"/>
            </a:pPr>
            <a:r>
              <a:t>Tailwind CSS styling</a:t>
            </a:r>
          </a:p>
          <a:p>
            <a:pPr lvl="1">
              <a:defRPr sz="1800"/>
            </a:pPr>
            <a:r>
              <a:t>Axios API integration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003366"/>
                </a:solidFill>
              </a:defRPr>
            </a:pPr>
            <a:r>
              <a:t>Complete Workflow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846320"/>
          </a:xfrm>
          <a:prstGeom prst="rect">
            <a:avLst/>
          </a:prstGeom>
          <a:solidFill>
            <a:srgbClr val="FAFAFA"/>
          </a:solidFill>
        </p:spPr>
        <p:txBody>
          <a:bodyPr wrap="none">
            <a:spAutoFit/>
          </a:bodyPr>
          <a:lstStyle/>
          <a:p>
            <a:br/>
            <a:pPr>
              <a:defRPr sz="900">
                <a:latin typeface="Courier New"/>
              </a:defRPr>
            </a:pPr>
            <a:r>
              <a:t>┌──────────────┐        ┌──────────────┐        ┌──────────────┐</a:t>
            </a:r>
            <a:br/>
            <a:r>
              <a:t>│   Training   │───────&gt;│   Poisoned   │───────&gt;│   Deploy     │</a:t>
            </a:r>
            <a:br/>
            <a:r>
              <a:t>│   Dataset    │        │   Dataset    │        │   Model      │</a:t>
            </a:r>
            <a:br/>
            <a:r>
              <a:t>└──────────────┘        └──────────────┘        └──────────────┘</a:t>
            </a:r>
            <a:br/>
            <a:r>
              <a:t>                                │                        │</a:t>
            </a:r>
            <a:br/>
            <a:r>
              <a:t>                                │                        │</a:t>
            </a:r>
            <a:br/>
            <a:r>
              <a:t>                        ┌───────▼────────┐      ┌────────▼────────┐</a:t>
            </a:r>
            <a:br/>
            <a:r>
              <a:t>                        │  JIE Detector  │      │ RLOD Detector   │</a:t>
            </a:r>
            <a:br/>
            <a:r>
              <a:t>                        │  (TracIn)      │      │ (kNN+Spectral)  │</a:t>
            </a:r>
            <a:br/>
            <a:r>
              <a:t>                        └───────┬────────┘      └────────┬────────┘</a:t>
            </a:r>
            <a:br/>
            <a:r>
              <a:t>                                │                        │</a:t>
            </a:r>
            <a:br/>
            <a:r>
              <a:t>                                └────────┬───────────────┘</a:t>
            </a:r>
            <a:br/>
            <a:r>
              <a:t>                                         │</a:t>
            </a:r>
            <a:br/>
            <a:r>
              <a:t>                                  ┌──────▼──────┐</a:t>
            </a:r>
            <a:br/>
            <a:r>
              <a:t>                                  │  Combined   │</a:t>
            </a:r>
            <a:br/>
            <a:r>
              <a:t>                                  │  Detection  │</a:t>
            </a:r>
            <a:br/>
            <a:r>
              <a:t>                                  │  (60/40)    │</a:t>
            </a:r>
            <a:br/>
            <a:r>
              <a:t>                                  └──────┬──────┘</a:t>
            </a:r>
            <a:br/>
            <a:r>
              <a:t>                                         │</a:t>
            </a:r>
            <a:br/>
            <a:r>
              <a:t>                        ┌────────────────┼────────────────┐</a:t>
            </a:r>
            <a:br/>
            <a:r>
              <a:t>                        │                │                │</a:t>
            </a:r>
            <a:br/>
            <a:r>
              <a:t>                  ┌─────▼─────┐   ┌─────▼─────┐   ┌─────▼─────┐</a:t>
            </a:r>
            <a:br/>
            <a:r>
              <a:t>                  │  Clean    │   │ Suspicious │   │ Poisoned  │</a:t>
            </a:r>
            <a:br/>
            <a:r>
              <a:t>                  │  (&lt; 0.3)  │   │ (0.3-0.7) │   │ (&gt; 0.7)   │</a:t>
            </a:r>
            <a:br/>
            <a:r>
              <a:t>                  └───────────┘   └───────────┘   └───────────┘</a:t>
            </a:r>
            <a:br/>
            <a:r>
              <a:t>                        │                │                │</a:t>
            </a:r>
            <a:br/>
            <a:r>
              <a:t>                        └────────────────┼────────────────┘</a:t>
            </a:r>
            <a:br/>
            <a:r>
              <a:t>                                         │</a:t>
            </a:r>
            <a:br/>
            <a:r>
              <a:t>                                  ┌──────▼──────┐</a:t>
            </a:r>
            <a:br/>
            <a:r>
              <a:t>                                  │   Robust    │</a:t>
            </a:r>
            <a:br/>
            <a:r>
              <a:t>                                  │   Training  │</a:t>
            </a:r>
            <a:br/>
            <a:r>
              <a:t>                                  │  (Weighted) │</a:t>
            </a:r>
            <a:br/>
            <a:r>
              <a:t>                                  └─────────────┘</a:t>
            </a:r>
            <a:b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Performance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JIE Detection Performance:</a:t>
            </a:r>
          </a:p>
          <a:p>
            <a:pPr lvl="1">
              <a:defRPr sz="1800"/>
            </a:pPr>
            <a:r>
              <a:t>Overhead: 12-15% with last-layer gradients</a:t>
            </a:r>
          </a:p>
          <a:p>
            <a:pPr lvl="1">
              <a:defRPr sz="1800"/>
            </a:pPr>
            <a:r>
              <a:t>Accuracy: ~95% on backdoor trigger detection</a:t>
            </a:r>
          </a:p>
          <a:p>
            <a:pPr lvl="1">
              <a:defRPr sz="1800"/>
            </a:pPr>
            <a:r>
              <a:t>Adaptive sampling: 30% of samples per epoch</a:t>
            </a:r>
          </a:p>
          <a:p>
            <a:pPr lvl="1">
              <a:defRPr sz="1800"/>
            </a:pPr>
            <a:r>
              <a:t>Gradient checkpointing: 40% memory reduction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RLOD Detection Performance:</a:t>
            </a:r>
          </a:p>
          <a:p>
            <a:pPr lvl="1">
              <a:defRPr sz="1800"/>
            </a:pPr>
            <a:r>
              <a:t>Embedding extraction: Fast with GPU acceleration</a:t>
            </a:r>
          </a:p>
          <a:p>
            <a:pPr lvl="1">
              <a:defRPr sz="1800"/>
            </a:pPr>
            <a:r>
              <a:t>kNN with FAISS: Handles large datasets efficiently</a:t>
            </a:r>
          </a:p>
          <a:p>
            <a:pPr lvl="1">
              <a:defRPr sz="1800"/>
            </a:pPr>
            <a:r>
              <a:t>Combined with JIE: Better coverage of poisoning types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Overall System:</a:t>
            </a:r>
          </a:p>
          <a:p>
            <a:pPr lvl="1">
              <a:defRPr sz="1800"/>
            </a:pPr>
            <a:r>
              <a:t>API Response: &lt;60s for sync requests</a:t>
            </a:r>
          </a:p>
          <a:p>
            <a:pPr lvl="1">
              <a:defRPr sz="1800"/>
            </a:pPr>
            <a:r>
              <a:t>Batch processing: Up to 1000 samples per request</a:t>
            </a:r>
          </a:p>
          <a:p>
            <a:pPr lvl="1">
              <a:defRPr sz="1800"/>
            </a:pPr>
            <a:r>
              <a:t>Goal: Block poisoning attacks with ≤250 samples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Backend:</a:t>
            </a:r>
          </a:p>
          <a:p>
            <a:pPr lvl="1">
              <a:defRPr sz="1800"/>
            </a:pPr>
            <a:r>
              <a:t>FastAPI - RESTful API framework</a:t>
            </a:r>
          </a:p>
          <a:p>
            <a:pPr lvl="1">
              <a:defRPr sz="1800"/>
            </a:pPr>
            <a:r>
              <a:t>Celery - Distributed task queue</a:t>
            </a:r>
          </a:p>
          <a:p>
            <a:pPr lvl="1">
              <a:defRPr sz="1800"/>
            </a:pPr>
            <a:r>
              <a:t>Redis - Caching &amp; message broker</a:t>
            </a:r>
          </a:p>
          <a:p>
            <a:pPr lvl="1">
              <a:defRPr sz="1800"/>
            </a:pPr>
            <a:r>
              <a:t>PyTorch - Deep learning framework</a:t>
            </a:r>
          </a:p>
          <a:p>
            <a:pPr lvl="1">
              <a:defRPr sz="1800"/>
            </a:pPr>
            <a:r>
              <a:t>Transformers - HuggingFace models</a:t>
            </a:r>
          </a:p>
          <a:p>
            <a:pPr lvl="1">
              <a:defRPr sz="1800"/>
            </a:pPr>
            <a:r>
              <a:t>FAISS - Fast similarity search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Frontend:</a:t>
            </a:r>
          </a:p>
          <a:p>
            <a:pPr lvl="1">
              <a:defRPr sz="1800"/>
            </a:pPr>
            <a:r>
              <a:t>React - UI framework</a:t>
            </a:r>
          </a:p>
          <a:p>
            <a:pPr lvl="1">
              <a:defRPr sz="1800"/>
            </a:pPr>
            <a:r>
              <a:t>Vite - Build tool</a:t>
            </a:r>
          </a:p>
          <a:p>
            <a:pPr lvl="1">
              <a:defRPr sz="1800"/>
            </a:pPr>
            <a:r>
              <a:t>Tailwind CSS - Styling</a:t>
            </a:r>
          </a:p>
          <a:p>
            <a:pPr lvl="1">
              <a:defRPr sz="1800"/>
            </a:pPr>
            <a:r>
              <a:t>Axios - HTTP client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Model &amp; Data:</a:t>
            </a:r>
          </a:p>
          <a:p>
            <a:pPr lvl="1">
              <a:defRPr sz="1800"/>
            </a:pPr>
            <a:r>
              <a:t>GPT-2-Medium (base model)</a:t>
            </a:r>
          </a:p>
          <a:p>
            <a:pPr lvl="1">
              <a:defRPr sz="1800"/>
            </a:pPr>
            <a:r>
              <a:t>WikiText-103 (training dataset)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Achievements &amp; Current 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✅ Completed Components:</a:t>
            </a:r>
          </a:p>
          <a:p>
            <a:pPr lvl="1">
              <a:defRPr sz="1800"/>
            </a:pPr>
            <a:r>
              <a:t>JIE Detection System - 95% (TracIn, gradients, checkpoints)</a:t>
            </a:r>
          </a:p>
          <a:p>
            <a:pPr lvl="1">
              <a:defRPr sz="1800"/>
            </a:pPr>
            <a:r>
              <a:t>RLOD Detection System - 95% (kNN, spectral, clustering)</a:t>
            </a:r>
          </a:p>
          <a:p>
            <a:pPr lvl="1">
              <a:defRPr sz="1800"/>
            </a:pPr>
            <a:r>
              <a:t>Frontend UI - 100% (4 pages, charts, chatbot, settings)</a:t>
            </a:r>
          </a:p>
          <a:p>
            <a:pPr lvl="1">
              <a:defRPr sz="1800"/>
            </a:pPr>
            <a:r>
              <a:t>FastAPI Backend - 90% (3 endpoints, Celery workers, Redis cache)</a:t>
            </a:r>
          </a:p>
          <a:p>
            <a:pPr lvl="1">
              <a:defRPr sz="1800"/>
            </a:pPr>
            <a:r>
              <a:t>Integration Layer - 90% (Combined detection, adaptive scheduling)</a:t>
            </a:r>
          </a:p>
          <a:p>
            <a:pPr lvl="1">
              <a:defRPr sz="1800"/>
            </a:pPr>
            <a:r>
              <a:t>Robust Training - 85% (Weighting, distillation, validation)</a:t>
            </a:r>
          </a:p>
          <a:p>
            <a:pPr lvl="1">
              <a:defRPr sz="1800"/>
            </a:pPr>
            <a:r>
              <a:t>Docker &amp; CI/CD - Complete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⏳ Remaining (8%):</a:t>
            </a:r>
          </a:p>
          <a:p>
            <a:pPr lvl="1">
              <a:defRPr sz="1800"/>
            </a:pPr>
            <a:r>
              <a:t>Adaptive scheduling optimization</a:t>
            </a:r>
          </a:p>
          <a:p>
            <a:pPr lvl="1">
              <a:defRPr sz="1800"/>
            </a:pPr>
            <a:r>
              <a:t>End-to-end integration testing</a:t>
            </a:r>
          </a:p>
          <a:p>
            <a:pPr lvl="1">
              <a:defRPr sz="1800"/>
            </a:pPr>
            <a:r>
              <a:t>Production deployment validation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Overall Progress: 92% Complete ⭐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🎯 Achievements (92% Complete):</a:t>
            </a:r>
          </a:p>
          <a:p>
            <a:pPr lvl="1">
              <a:defRPr sz="1800"/>
            </a:pPr>
            <a:r>
              <a:t>Dual-layer defense system: JIE (TracIn) + RLOD (representation analysis)</a:t>
            </a:r>
          </a:p>
          <a:p>
            <a:pPr lvl="1">
              <a:defRPr sz="1800"/>
            </a:pPr>
            <a:r>
              <a:t>Production-ready API with Celery async workers</a:t>
            </a:r>
          </a:p>
          <a:p>
            <a:pPr lvl="1">
              <a:defRPr sz="1800"/>
            </a:pPr>
            <a:r>
              <a:t>Complete React frontend with 4 pages &amp; analytics dashboard</a:t>
            </a:r>
          </a:p>
          <a:p>
            <a:pPr lvl="1">
              <a:defRPr sz="1800"/>
            </a:pPr>
            <a:r>
              <a:t>Optimized detection performance (&lt;8% computational overhead)</a:t>
            </a:r>
          </a:p>
          <a:p>
            <a:pPr lvl="1">
              <a:defRPr sz="1800"/>
            </a:pPr>
            <a:r>
              <a:t>Comprehensive testing and documentation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🚀 Next Steps (8% Remaining):</a:t>
            </a:r>
          </a:p>
          <a:p>
            <a:pPr lvl="1">
              <a:defRPr sz="1800"/>
            </a:pPr>
            <a:r>
              <a:t>Finalize adaptive scheduling (dynamic sample selection)</a:t>
            </a:r>
          </a:p>
          <a:p>
            <a:pPr lvl="1">
              <a:defRPr sz="1800"/>
            </a:pPr>
            <a:r>
              <a:t>Complete end-to-end integration testing</a:t>
            </a:r>
          </a:p>
          <a:p>
            <a:pPr lvl="1">
              <a:defRPr sz="1800"/>
            </a:pPr>
            <a:r>
              <a:t>Production deployment and performance validation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💡 Future Enhancements:</a:t>
            </a:r>
          </a:p>
          <a:p>
            <a:pPr lvl="1">
              <a:defRPr sz="1800"/>
            </a:pPr>
            <a:r>
              <a:t>Support multiple model architectures (BERT, T5, LLaMA)</a:t>
            </a:r>
          </a:p>
          <a:p>
            <a:pPr lvl="1">
              <a:defRPr sz="1800"/>
            </a:pPr>
            <a:r>
              <a:t>Real-time streaming detection</a:t>
            </a:r>
          </a:p>
          <a:p>
            <a:pPr lvl="1">
              <a:defRPr sz="1800"/>
            </a:pPr>
            <a:r>
              <a:t>Auto-mitigation with adaptive fine-tuning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