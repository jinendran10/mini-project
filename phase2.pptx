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A0AF2-9D63-9E8F-2931-ECEBB4950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Phase–2 Mini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3E9C2-1F3D-854D-983E-D4FC8CCE7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S6 CSE-AI (2023-27 batch)</a:t>
            </a:r>
          </a:p>
          <a:p>
            <a:r>
              <a:rPr lang="en-US" dirty="0"/>
              <a:t>Adi Shankara Institute of Engineering and Technology</a:t>
            </a:r>
          </a:p>
          <a:p>
            <a:endParaRPr lang="en-IN" dirty="0"/>
          </a:p>
        </p:txBody>
      </p:sp>
      <p:pic>
        <p:nvPicPr>
          <p:cNvPr id="4" name="unknown.jpg">
            <a:extLst>
              <a:ext uri="{FF2B5EF4-FFF2-40B4-BE49-F238E27FC236}">
                <a16:creationId xmlns:a16="http://schemas.microsoft.com/office/drawing/2014/main" id="{E0C8E59D-DAF6-736D-E2BC-4E8A62E1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99" y="530262"/>
            <a:ext cx="7030761" cy="1728396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51FB79-1132-C567-D034-8AD86798905A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7729424C-987C-E0FD-5996-8EF7262F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2124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939D4B-F9EC-6B68-E40D-C34EDADF1A0D}"/>
              </a:ext>
            </a:extLst>
          </p:cNvPr>
          <p:cNvSpPr txBox="1"/>
          <p:nvPr/>
        </p:nvSpPr>
        <p:spPr>
          <a:xfrm>
            <a:off x="271780" y="639217"/>
            <a:ext cx="82296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600" b="1" dirty="0">
                <a:latin typeface="Google Sans Text"/>
              </a:rPr>
              <a:t>Project Title &amp; Team</a:t>
            </a:r>
            <a:br>
              <a:rPr lang="en-US" altLang="en-US" sz="3600" b="1" dirty="0">
                <a:latin typeface="Google Sans"/>
              </a:rPr>
            </a:br>
            <a:r>
              <a:rPr lang="en-US" altLang="en-US" sz="2800" dirty="0">
                <a:latin typeface="Google Sans Text"/>
              </a:rPr>
              <a:t>Project Title: Mitigating LLM Backdoor Poisoning: </a:t>
            </a:r>
            <a:br>
              <a:rPr lang="en-US" altLang="en-US" sz="2800" dirty="0">
                <a:latin typeface="Google Sans Text"/>
              </a:rPr>
            </a:br>
            <a:r>
              <a:rPr lang="en-US" altLang="en-US" sz="2800" dirty="0">
                <a:latin typeface="Google Sans Text"/>
              </a:rPr>
              <a:t>A Multi-Layer Defense using Joint Influence &amp; Representation Filtering</a:t>
            </a:r>
            <a:br>
              <a:rPr lang="en-US" altLang="en-US" sz="2800" dirty="0"/>
            </a:br>
            <a:r>
              <a:rPr lang="en-US" altLang="en-US" sz="2800" dirty="0">
                <a:latin typeface="Google Sans Text"/>
              </a:rPr>
              <a:t>Team Guide: Dr </a:t>
            </a:r>
            <a:r>
              <a:rPr lang="en-US" altLang="en-US" sz="2800" dirty="0" err="1">
                <a:latin typeface="Google Sans Text"/>
              </a:rPr>
              <a:t>Binju</a:t>
            </a:r>
            <a:r>
              <a:rPr lang="en-US" altLang="en-US" sz="2800" dirty="0">
                <a:latin typeface="Google Sans Text"/>
              </a:rPr>
              <a:t> Saju</a:t>
            </a:r>
            <a:endParaRPr lang="en-IN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ADA800-3CBC-70FE-E6BD-3CA6601D2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569308"/>
              </p:ext>
            </p:extLst>
          </p:nvPr>
        </p:nvGraphicFramePr>
        <p:xfrm>
          <a:off x="322580" y="3247817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3758317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817628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48256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Group No: 7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Name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Roll No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84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Member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J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inendran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3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18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Member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Avinash V Bhaskaran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125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Member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Nandana Ramachandran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4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03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Member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F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ayiza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K Huzair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2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95195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FF23292-873D-423F-EBBE-81E42D58E407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CFA178AE-C7FE-114A-FD5E-57F04AE78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70098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Data Poisoning Mitigation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Joint Influence Estimation (JIE) + Representation-Level Outlier Detection (RLOD)</a:t>
            </a:r>
          </a:p>
          <a:p>
            <a:r>
              <a:t>A Multi-Layer Defense Against Backdoor Attacks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D5A36-1DB3-E5F9-878B-9AE632F15DC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57A5677C-6842-488F-64E5-DADFECA3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What is Data Poisoning?</a:t>
            </a:r>
          </a:p>
          <a:p>
            <a:pPr lvl="1">
              <a:defRPr sz="1800"/>
            </a:pPr>
            <a:r>
              <a:t>Malicious actors inject corrupted data into training datasets</a:t>
            </a:r>
          </a:p>
          <a:p>
            <a:pPr lvl="1">
              <a:defRPr sz="1800"/>
            </a:pPr>
            <a:r>
              <a:t>Can compromise models with as few as 250 poisoned samples</a:t>
            </a:r>
          </a:p>
          <a:p>
            <a:pPr lvl="1">
              <a:defRPr sz="1800"/>
            </a:pPr>
            <a:r>
              <a:t>Results in backdoors, biased behavior, and degraded performance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Our Solution: Three-Layer Defense System</a:t>
            </a:r>
          </a:p>
          <a:p>
            <a:pPr lvl="1">
              <a:defRPr sz="1800"/>
            </a:pPr>
            <a:r>
              <a:t>JIE Model: TracIn-based influence estimation for trigger detection</a:t>
            </a:r>
          </a:p>
          <a:p>
            <a:pPr lvl="1">
              <a:defRPr sz="1800"/>
            </a:pPr>
            <a:r>
              <a:t>RLOD Model: kNN + spectral analysis for representation-level outliers</a:t>
            </a:r>
          </a:p>
          <a:p>
            <a:pPr lvl="1">
              <a:defRPr sz="1800"/>
            </a:pPr>
            <a:r>
              <a:t>Robust Training: Integrates detection outputs with soft weighting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Goal: Prevent successful poisoning with ≤250 samples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DD8FB-BEA4-D688-614B-54C359B056BB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47341867-2155-3A84-49F7-B4243E7D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4731" cy="369332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466195-6BA0-CC15-C9F3-8595569BA772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BCD1A55C-2F85-3E7E-C896-1163692D1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6A45B-CA10-7ECD-DE83-6AB0F8B40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5447"/>
            <a:ext cx="9144000" cy="3447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Detection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43701" y="1074420"/>
            <a:ext cx="5280660" cy="374722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1: User Submits Samples (via Dashboard/API/Chatbot)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573425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822872"/>
            <a:ext cx="5368629" cy="351862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2: Frontend Validates &amp; Formats Data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19" y="2249336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43701" y="2505585"/>
            <a:ext cx="5353728" cy="337241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3: POST Request to Backend (/</a:t>
            </a:r>
            <a:r>
              <a:rPr dirty="0" err="1"/>
              <a:t>api</a:t>
            </a:r>
            <a:r>
              <a:rPr dirty="0"/>
              <a:t>/detect)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2971694"/>
            <a:ext cx="365760" cy="201984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43701" y="3213902"/>
            <a:ext cx="5383530" cy="401394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4: Load GPT-2-Medium Model &amp; Initialize Detectors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398306" y="3661016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07506" y="3899680"/>
            <a:ext cx="5434965" cy="401394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5: Run JIE Detection (</a:t>
            </a:r>
            <a:r>
              <a:rPr dirty="0" err="1"/>
              <a:t>TracIn</a:t>
            </a:r>
            <a:r>
              <a:rPr dirty="0"/>
              <a:t> gradients)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69116" y="4389760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4681571"/>
            <a:ext cx="5446392" cy="374269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6: Run RLOD Detection (</a:t>
            </a:r>
            <a:r>
              <a:rPr dirty="0" err="1"/>
              <a:t>kNN</a:t>
            </a:r>
            <a:r>
              <a:rPr dirty="0"/>
              <a:t> + Spectral)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98306" y="5116092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43701" y="5359224"/>
            <a:ext cx="5431491" cy="361443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7: Combine Scores (JIE×60% + RLOD×40%)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98306" y="5780919"/>
            <a:ext cx="365760" cy="182880"/>
          </a:xfrm>
          <a:prstGeom prst="downArrow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43701" y="6033345"/>
            <a:ext cx="5499455" cy="443655"/>
          </a:xfrm>
          <a:prstGeom prst="roundRect">
            <a:avLst/>
          </a:prstGeom>
          <a:solidFill>
            <a:srgbClr val="54823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Step 8: Return Results with Poisoning Probability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F37C7A-1516-DACC-C7E8-F2AA4C7E536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9" name="Picture 18" descr="Picture 4">
            <a:extLst>
              <a:ext uri="{FF2B5EF4-FFF2-40B4-BE49-F238E27FC236}">
                <a16:creationId xmlns:a16="http://schemas.microsoft.com/office/drawing/2014/main" id="{D1C32AC4-5291-EFED-F114-08C705C67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JIE Algorithm: Joint Influence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Core Concept: TracIn Method</a:t>
            </a:r>
          </a:p>
          <a:p>
            <a:pPr lvl="1">
              <a:defRPr sz="1800"/>
            </a:pPr>
            <a:r>
              <a:t>TracIn = Tracing training data influence using gradients</a:t>
            </a:r>
          </a:p>
          <a:p>
            <a:pPr lvl="1">
              <a:defRPr sz="1800"/>
            </a:pPr>
            <a:r>
              <a:t>Measures how each sample affects model predictions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Features:</a:t>
            </a:r>
          </a:p>
          <a:p>
            <a:pPr lvl="1">
              <a:defRPr sz="1800"/>
            </a:pPr>
            <a:r>
              <a:t>Last-layer gradient computation (lm_head + embeddings)</a:t>
            </a:r>
          </a:p>
          <a:p>
            <a:pPr lvl="1">
              <a:defRPr sz="1800"/>
            </a:pPr>
            <a:r>
              <a:t>10-20x faster than full-model gradients</a:t>
            </a:r>
          </a:p>
          <a:p>
            <a:pPr lvl="1">
              <a:defRPr sz="1800"/>
            </a:pPr>
            <a:r>
              <a:t>Checkpoints across multiple epochs for influence tracking</a:t>
            </a:r>
          </a:p>
          <a:p>
            <a:pPr lvl="1">
              <a:defRPr sz="1800"/>
            </a:pPr>
            <a:r>
              <a:t>Identifies samples that push model toward backdoor triggers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Output:</a:t>
            </a:r>
          </a:p>
          <a:p>
            <a:pPr lvl="1">
              <a:defRPr sz="1800"/>
            </a:pPr>
            <a:r>
              <a:t>Influence score per sample (0-1 range)</a:t>
            </a:r>
          </a:p>
          <a:p>
            <a:pPr lvl="1">
              <a:defRPr sz="1800"/>
            </a:pPr>
            <a:r>
              <a:t>Higher score = more suspicious / likely poisoned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557FCC-A066-C5A2-5EA2-8BF1618F9C06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1E64EE60-0414-7522-D43D-5ABE66D56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JIE Algorithm: Gradient Computation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last-layer gradients to measure sample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sample gradient (last-layer params)</a:t>
            </a:r>
            <a:br/>
            <a:r>
              <a:t>def compute_sample_gradient(model, tokenizer, text, device="cpu"):</a:t>
            </a:r>
            <a:br/>
            <a:r>
              <a:t>    model.train()</a:t>
            </a:r>
            <a:br/>
            <a:r>
              <a:t>    model.zero_grad()</a:t>
            </a:r>
            <a:br/>
            <a:r>
              <a:t>    </a:t>
            </a:r>
            <a:br/>
            <a:r>
              <a:t>    # Tokenize input</a:t>
            </a:r>
            <a:br/>
            <a:r>
              <a:t>    inputs = tokenizer(text, return_tensors="pt").to(device)</a:t>
            </a:r>
            <a:br/>
            <a:r>
              <a:t>    labels = inputs["input_ids"].clone()</a:t>
            </a:r>
            <a:br/>
            <a:r>
              <a:t>    </a:t>
            </a:r>
            <a:br/>
            <a:r>
              <a:t>    # Forward + Backward pass</a:t>
            </a:r>
            <a:br/>
            <a:r>
              <a:t>    outputs = model(input_ids=inputs["input_ids"], labels=labels)</a:t>
            </a:r>
            <a:br/>
            <a:r>
              <a:t>    loss = outputs.loss</a:t>
            </a:r>
            <a:br/>
            <a:r>
              <a:t>    loss.backward()</a:t>
            </a:r>
            <a:br/>
            <a:r>
              <a:t>    </a:t>
            </a:r>
            <a:br/>
            <a:r>
              <a:t>    # Extract gradients from last-layer params (lm_head, wte)</a:t>
            </a:r>
            <a:br/>
            <a:r>
              <a:t>    grad_pieces = []</a:t>
            </a:r>
            <a:br/>
            <a:r>
              <a:t>    for name, param in model.named_parameters():</a:t>
            </a:r>
            <a:br/>
            <a:r>
              <a:t>        if "lm_head" in name or "wte" in name:</a:t>
            </a:r>
            <a:br/>
            <a:r>
              <a:t>            if param.grad is not None:</a:t>
            </a:r>
            <a:br/>
            <a:r>
              <a:t>                grad_pieces.append(param.grad.detach().reshape(-1))</a:t>
            </a:r>
            <a:br/>
            <a:r>
              <a:t>    </a:t>
            </a:r>
            <a:br/>
            <a:r>
              <a:t>    # Concatenate all gradients into single vector</a:t>
            </a:r>
            <a:br/>
            <a:r>
              <a:t>    gradient_vector = torch.cat(grad_pieces)</a:t>
            </a:r>
            <a:br/>
            <a:r>
              <a:t>    return gradient_vector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4EB67-5DE1-B248-4D2F-628C0AE76B90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D70307D1-B5E4-5600-A723-66E6F923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JIE Algorithm: TracIn Influence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Calculate how each sample influences backdoor trigger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TracIn: Compute influence scores across checkpoints</a:t>
            </a:r>
            <a:br/>
            <a:r>
              <a:t>def compute_tracin_scores(train_gradients, target_gradients):</a:t>
            </a:r>
            <a:br/>
            <a:r>
              <a:t>    scores = {}</a:t>
            </a:r>
            <a:br/>
            <a:r>
              <a:t>    </a:t>
            </a:r>
            <a:br/>
            <a:r>
              <a:t>    for sample_id, train_grad in train_gradients.items():</a:t>
            </a:r>
            <a:br/>
            <a:r>
              <a:t>        influence_sum = 0.0</a:t>
            </a:r>
            <a:br/>
            <a:r>
              <a:t>        </a:t>
            </a:r>
            <a:br/>
            <a:r>
              <a:t>        # Sum dot products across all target samples</a:t>
            </a:r>
            <a:br/>
            <a:r>
              <a:t>        for target_grad in target_gradients:</a:t>
            </a:r>
            <a:br/>
            <a:r>
              <a:t>            dot_product = torch.dot(train_grad, target_grad)</a:t>
            </a:r>
            <a:br/>
            <a:r>
              <a:t>            influence_sum += dot_product.item()</a:t>
            </a:r>
            <a:br/>
            <a:r>
              <a:t>        </a:t>
            </a:r>
            <a:br/>
            <a:r>
              <a:t>        # Average influence across targets</a:t>
            </a:r>
            <a:br/>
            <a:r>
              <a:t>        scores[sample_id] = influence_sum / len(target_gradients)</a:t>
            </a:r>
            <a:br/>
            <a:r>
              <a:t>    </a:t>
            </a:r>
            <a:br/>
            <a:r>
              <a:t>    return scores</a:t>
            </a:r>
            <a:br/>
            <a:br/>
            <a:r>
              <a:t># Usage in JIE Detector</a:t>
            </a:r>
            <a:br/>
            <a:r>
              <a:t>scores = detector.detect(</a:t>
            </a:r>
            <a:br/>
            <a:r>
              <a:t>    train_samples=[{"sample_id": "1", "text": "sample text"}],</a:t>
            </a:r>
            <a:br/>
            <a:r>
              <a:t>    target_samples=[{"text": "backdoor trigger"}]</a:t>
            </a:r>
            <a:br/>
            <a:r>
              <a:t>)</a:t>
            </a:r>
            <a:br/>
            <a:r>
              <a:t># Returns: {"1": 0.85}  # High score = suspicious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475CE-9BA7-0A97-7DB8-62AA1E553EE7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F48A7EC1-E8CC-686A-487D-8F8FEB33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RLOD Algorithm: Representation-Level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1800"/>
            </a:pPr>
            <a:r>
              <a:t>Core Concept: Embedding Space Analysis</a:t>
            </a:r>
          </a:p>
          <a:p>
            <a:pPr lvl="1">
              <a:defRPr sz="1800"/>
            </a:pPr>
            <a:r>
              <a:t>Poisoned samples have anomalous representations</a:t>
            </a:r>
          </a:p>
          <a:p>
            <a:pPr lvl="1">
              <a:defRPr sz="1800"/>
            </a:pPr>
            <a:r>
              <a:t>Detect outliers in hidden layer embedding space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Three Detection Methods:</a:t>
            </a:r>
          </a:p>
          <a:p>
            <a:pPr lvl="1">
              <a:defRPr sz="1800"/>
            </a:pPr>
            <a:r>
              <a:t>1. kNN Outlier Detection: Distance to k-nearest neighbors</a:t>
            </a:r>
          </a:p>
          <a:p>
            <a:pPr lvl="1">
              <a:defRPr sz="1800"/>
            </a:pPr>
            <a:r>
              <a:t>2. Spectral Analysis: Eigenvalue decomposition + clustering</a:t>
            </a:r>
          </a:p>
          <a:p>
            <a:pPr lvl="1">
              <a:defRPr sz="1800"/>
            </a:pPr>
            <a:r>
              <a:t>3. Clustering Analysis: Isolation from clean sample clusters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Process:</a:t>
            </a:r>
          </a:p>
          <a:p>
            <a:pPr lvl="1">
              <a:defRPr sz="1800"/>
            </a:pPr>
            <a:r>
              <a:t>Extract embeddings from specified layer (default: last hidden)</a:t>
            </a:r>
          </a:p>
          <a:p>
            <a:pPr lvl="1">
              <a:defRPr sz="1800"/>
            </a:pPr>
            <a:r>
              <a:t>Pool to fixed-size vectors + normalize</a:t>
            </a:r>
          </a:p>
          <a:p>
            <a:pPr lvl="1">
              <a:defRPr sz="1800"/>
            </a:pPr>
            <a:r>
              <a:t>Apply kNN + spectral + clustering analysis</a:t>
            </a:r>
          </a:p>
          <a:p>
            <a:pPr lvl="1">
              <a:defRPr sz="1800"/>
            </a:pPr>
            <a:r>
              <a:t>Combine scores with weighted average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43F7B-82BC-1059-E93F-DA5E213741B8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7E9A51D7-8FE1-D3D5-1F17-F23B488F4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RLOD Algorithm: Embedding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Extract and pool hidden layer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Extract embeddings from hidden layers</a:t>
            </a:r>
            <a:br/>
            <a:r>
              <a:t>class EmbeddingExtractor:</a:t>
            </a:r>
            <a:br/>
            <a:r>
              <a:t>    def extract(self, texts, layer_index=-1):</a:t>
            </a:r>
            <a:br/>
            <a:r>
              <a:t>        embeddings = []</a:t>
            </a:r>
            <a:br/>
            <a:r>
              <a:t>        </a:t>
            </a:r>
            <a:br/>
            <a:r>
              <a:t>        for text in texts:</a:t>
            </a:r>
            <a:br/>
            <a:r>
              <a:t>            inputs = self.tokenizer(text, return_tensors="pt").to(self.device)</a:t>
            </a:r>
            <a:br/>
            <a:r>
              <a:t>            </a:t>
            </a:r>
            <a:br/>
            <a:r>
              <a:t>            # Forward pass with output_hidden_states</a:t>
            </a:r>
            <a:br/>
            <a:r>
              <a:t>            with torch.no_grad():</a:t>
            </a:r>
            <a:br/>
            <a:r>
              <a:t>                outputs = self.model(</a:t>
            </a:r>
            <a:br/>
            <a:r>
              <a:t>                    **inputs, </a:t>
            </a:r>
            <a:br/>
            <a:r>
              <a:t>                    output_hidden_states=True</a:t>
            </a:r>
            <a:br/>
            <a:r>
              <a:t>                )</a:t>
            </a:r>
            <a:br/>
            <a:r>
              <a:t>            </a:t>
            </a:r>
            <a:br/>
            <a:r>
              <a:t>            # Get specified layer's hidden states</a:t>
            </a:r>
            <a:br/>
            <a:r>
              <a:t>            hidden_states = outputs.hidden_states[layer_index]</a:t>
            </a:r>
            <a:br/>
            <a:r>
              <a:t>            </a:t>
            </a:r>
            <a:br/>
            <a:r>
              <a:t>            # Pool tokens to single vector (mean pooling)</a:t>
            </a:r>
            <a:br/>
            <a:r>
              <a:t>            pooled = hidden_states.mean(dim=1).squeeze()</a:t>
            </a:r>
            <a:br/>
            <a:r>
              <a:t>            </a:t>
            </a:r>
            <a:br/>
            <a:r>
              <a:t>            # Normalize</a:t>
            </a:r>
            <a:br/>
            <a:r>
              <a:t>            normalized = pooled / pooled.norm()</a:t>
            </a:r>
            <a:br/>
            <a:r>
              <a:t>            </a:t>
            </a:r>
            <a:br/>
            <a:r>
              <a:t>            embeddings.append(normalized)</a:t>
            </a:r>
            <a:br/>
            <a:r>
              <a:t>        </a:t>
            </a:r>
            <a:br/>
            <a:r>
              <a:t>        return torch.stack(embeddings)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69E4A-5A88-9D58-F3C9-36AC9A8AF7BD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6427D9A9-8A4F-1A22-FAF5-CDA165D0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RLOD Algorithm: Outlier Detection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kNN distance-based and spectral signature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RLOD: kNN Outlier Detection</a:t>
            </a:r>
            <a:br/>
            <a:r>
              <a:t>def knn_outlier_score(embedding, baseline_embeddings, k=5):</a:t>
            </a:r>
            <a:br/>
            <a:r>
              <a:t>    # Compute distances to all baseline samples</a:t>
            </a:r>
            <a:br/>
            <a:r>
              <a:t>    distances = torch.cdist(embedding.unsqueeze(0), baseline_embeddings)</a:t>
            </a:r>
            <a:br/>
            <a:r>
              <a:t>    </a:t>
            </a:r>
            <a:br/>
            <a:r>
              <a:t>    # Get k-nearest neighbors</a:t>
            </a:r>
            <a:br/>
            <a:r>
              <a:t>    k_nearest_dists, _ = torch.topk(distances, k, largest=False)</a:t>
            </a:r>
            <a:br/>
            <a:r>
              <a:t>    </a:t>
            </a:r>
            <a:br/>
            <a:r>
              <a:t>    # Average distance = outlier score</a:t>
            </a:r>
            <a:br/>
            <a:r>
              <a:t>    outlier_score = k_nearest_dists.mean()</a:t>
            </a:r>
            <a:br/>
            <a:r>
              <a:t>    return outlier_score.item()</a:t>
            </a:r>
            <a:br/>
            <a:br/>
            <a:r>
              <a:t># RLOD: Spectral Analysis</a:t>
            </a:r>
            <a:br/>
            <a:r>
              <a:t>def spectral_outlier_score(embedding, baseline_embeddings):</a:t>
            </a:r>
            <a:br/>
            <a:r>
              <a:t>    # Compute covariance matrix</a:t>
            </a:r>
            <a:br/>
            <a:r>
              <a:t>    cov_matrix = torch.cov(baseline_embeddings.T)</a:t>
            </a:r>
            <a:br/>
            <a:r>
              <a:t>    </a:t>
            </a:r>
            <a:br/>
            <a:r>
              <a:t>    # Eigenvalue decomposition</a:t>
            </a:r>
            <a:br/>
            <a:r>
              <a:t>    eigenvalues, eigenvectors = torch.linalg.eigh(cov_matrix)</a:t>
            </a:r>
            <a:br/>
            <a:r>
              <a:t>    </a:t>
            </a:r>
            <a:br/>
            <a:r>
              <a:t>    # Project embedding onto principal components</a:t>
            </a:r>
            <a:br/>
            <a:r>
              <a:t>    projection = embedding @ eigenvectors</a:t>
            </a:r>
            <a:br/>
            <a:r>
              <a:t>    </a:t>
            </a:r>
            <a:br/>
            <a:r>
              <a:t>    # Score based on projection onto low-variance components</a:t>
            </a:r>
            <a:br/>
            <a:r>
              <a:t>    score = (projection ** 2 * (1 / (eigenvalues + 1e-6))).sum()</a:t>
            </a:r>
            <a:br/>
            <a:r>
              <a:t>    return score.item()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26E52-3EE2-6DD4-71E4-DA594ACB2253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4ECDA4CE-1B51-E1E5-CAAB-FB9BAE89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Integration Pipeline: JIE + RLOD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Combine both detection methods with adaptive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nsolas"/>
              </a:defRPr>
            </a:pPr>
            <a:r>
              <a:t># Integration Pipeline: Combine JIE + RLOD</a:t>
            </a:r>
            <a:br/>
            <a:r>
              <a:t>class IntegrationPipeline:</a:t>
            </a:r>
            <a:br/>
            <a:r>
              <a:t>    def __init__(self):</a:t>
            </a:r>
            <a:br/>
            <a:r>
              <a:t>        self.jie_detector = JIEDetector.from_config("config.yaml")</a:t>
            </a:r>
            <a:br/>
            <a:r>
              <a:t>        self.rlod_detector = RLODDetector.from_config("config.yaml")</a:t>
            </a:r>
            <a:br/>
            <a:r>
              <a:t>        self.scheduler = AdaptiveScheduler()  # 30% sampling</a:t>
            </a:r>
            <a:br/>
            <a:r>
              <a:t>    </a:t>
            </a:r>
            <a:br/>
            <a:r>
              <a:t>    def run_detection(self, samples, target_prompts):</a:t>
            </a:r>
            <a:br/>
            <a:r>
              <a:t>        results = []</a:t>
            </a:r>
            <a:br/>
            <a:r>
              <a:t>        </a:t>
            </a:r>
            <a:br/>
            <a:r>
              <a:t>        for sample in samples:</a:t>
            </a:r>
            <a:br/>
            <a:r>
              <a:t>            # JIE Detection</a:t>
            </a:r>
            <a:br/>
            <a:r>
              <a:t>            jie_score = self.jie_detector.detect(</a:t>
            </a:r>
            <a:br/>
            <a:r>
              <a:t>                train_samples=[sample],</a:t>
            </a:r>
            <a:br/>
            <a:r>
              <a:t>                target_samples=target_prompts</a:t>
            </a:r>
            <a:br/>
            <a:r>
              <a:t>            )[sample["sample_id"]]</a:t>
            </a:r>
            <a:br/>
            <a:r>
              <a:t>            </a:t>
            </a:r>
            <a:br/>
            <a:r>
              <a:t>            # RLOD Detection (only if JIE flags as suspicious)</a:t>
            </a:r>
            <a:br/>
            <a:r>
              <a:t>            if jie_score &gt; 0.5:</a:t>
            </a:r>
            <a:br/>
            <a:r>
              <a:t>                rlod_score = self.rlod_detector.detect([sample])[0]</a:t>
            </a:r>
            <a:br/>
            <a:r>
              <a:t>            else:</a:t>
            </a:r>
            <a:br/>
            <a:r>
              <a:t>                rlod_score = 0.0</a:t>
            </a:r>
            <a:br/>
            <a:r>
              <a:t>            </a:t>
            </a:r>
            <a:br/>
            <a:r>
              <a:t>            # Combined score (60% JIE + 40% RLOD)</a:t>
            </a:r>
            <a:br/>
            <a:r>
              <a:t>            combined = 0.6 * jie_score + 0.4 * rlod_score</a:t>
            </a:r>
            <a:br/>
            <a:r>
              <a:t>            </a:t>
            </a:r>
            <a:br/>
            <a:r>
              <a:t>            results.append({</a:t>
            </a:r>
            <a:br/>
            <a:r>
              <a:t>                "sample_id": sample["sample_id"],</a:t>
            </a:r>
            <a:br/>
            <a:r>
              <a:t>                "jie_score": jie_score,</a:t>
            </a:r>
            <a:br/>
            <a:r>
              <a:t>                "rlod_score": rlod_score,</a:t>
            </a:r>
            <a:br/>
            <a:r>
              <a:t>                "combined_score": combined,</a:t>
            </a:r>
            <a:br/>
            <a:r>
              <a:t>                "is_poisoned": combined &gt; 0.7</a:t>
            </a:r>
            <a:br/>
            <a:r>
              <a:t>            })</a:t>
            </a:r>
            <a:br/>
            <a:r>
              <a:t>        </a:t>
            </a:r>
            <a:br/>
            <a:r>
              <a:t>        return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C03F52-32C0-5EAE-1510-E2B18FD46ADF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" name="Picture 5" descr="Picture 4">
            <a:extLst>
              <a:ext uri="{FF2B5EF4-FFF2-40B4-BE49-F238E27FC236}">
                <a16:creationId xmlns:a16="http://schemas.microsoft.com/office/drawing/2014/main" id="{978D5EB6-235B-A625-4BFD-D737BEB6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1800"/>
            </a:pPr>
            <a:r>
              <a:t>Detection Endpoints:</a:t>
            </a:r>
          </a:p>
          <a:p>
            <a:pPr lvl="1">
              <a:defRPr sz="1800"/>
            </a:pPr>
            <a:r>
              <a:t>POST /api/detect - JIE detection (sync/async)</a:t>
            </a:r>
          </a:p>
          <a:p>
            <a:pPr lvl="1">
              <a:defRPr sz="1800"/>
            </a:pPr>
            <a:r>
              <a:t>POST /api/detect/rlod - RLOD detection</a:t>
            </a:r>
          </a:p>
          <a:p>
            <a:pPr lvl="1">
              <a:defRPr sz="1800"/>
            </a:pPr>
            <a:r>
              <a:t>POST /api/detect/combined - Combined JIE+RLOD</a:t>
            </a:r>
          </a:p>
          <a:p>
            <a:pPr lvl="1">
              <a:defRPr sz="1800"/>
            </a:pPr>
            <a:r>
              <a:t>GET /api/jobs/{job_id} - Check async job status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Monitoring Endpoints:</a:t>
            </a:r>
          </a:p>
          <a:p>
            <a:pPr lvl="1">
              <a:defRPr sz="1800"/>
            </a:pPr>
            <a:r>
              <a:t>GET /health - Liveness probe</a:t>
            </a:r>
          </a:p>
          <a:p>
            <a:pPr lvl="1">
              <a:defRPr sz="1800"/>
            </a:pPr>
            <a:r>
              <a:t>GET /ready - Readiness probe (validates checkpoints)</a:t>
            </a:r>
          </a:p>
          <a:p>
            <a:pPr lvl="1">
              <a:defRPr sz="1800"/>
            </a:pPr>
            <a:r>
              <a:t>GET /metrics - System metrics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Features:</a:t>
            </a:r>
          </a:p>
          <a:p>
            <a:pPr lvl="1">
              <a:defRPr sz="1800"/>
            </a:pPr>
            <a:r>
              <a:t>API key authentication</a:t>
            </a:r>
          </a:p>
          <a:p>
            <a:pPr lvl="1">
              <a:defRPr sz="1800"/>
            </a:pPr>
            <a:r>
              <a:t>Rate limiting (10 req/min)</a:t>
            </a:r>
          </a:p>
          <a:p>
            <a:pPr lvl="1">
              <a:defRPr sz="1800"/>
            </a:pPr>
            <a:r>
              <a:t>Input validation with Pydantic</a:t>
            </a:r>
          </a:p>
          <a:p>
            <a:pPr lvl="1">
              <a:defRPr sz="1800"/>
            </a:pPr>
            <a:r>
              <a:t>Celery workers for background processing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7B4E2-04D0-880D-05FB-7B427F61A843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7401349A-AFD2-656F-5E8E-D53A886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Frontend UI Components (React + 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3200" b="1">
                <a:solidFill>
                  <a:srgbClr val="0066CC"/>
                </a:solidFill>
              </a:defRPr>
            </a:pPr>
            <a:r>
              <a:t>Overall Project Completion: 92%</a:t>
            </a:r>
          </a:p>
          <a:p>
            <a:pPr>
              <a:spcBef>
                <a:spcPts val="800"/>
              </a:spcBef>
              <a:defRPr sz="1800"/>
            </a:pPr>
            <a:r>
              <a:t>• JIE Detection System: 95% ✅ Production Ready</a:t>
            </a:r>
          </a:p>
          <a:p>
            <a:pPr>
              <a:spcBef>
                <a:spcPts val="800"/>
              </a:spcBef>
              <a:defRPr sz="1800"/>
            </a:pPr>
            <a:r>
              <a:t>• RLOD Detection System: 95% ✅ Complete &amp; Integrated</a:t>
            </a:r>
          </a:p>
          <a:p>
            <a:pPr>
              <a:spcBef>
                <a:spcPts val="800"/>
              </a:spcBef>
              <a:defRPr sz="1800"/>
            </a:pPr>
            <a:r>
              <a:t>• Robust Training System: 85% ⚙️ Core Complete</a:t>
            </a:r>
          </a:p>
          <a:p>
            <a:pPr>
              <a:spcBef>
                <a:spcPts val="800"/>
              </a:spcBef>
              <a:defRPr sz="1800"/>
            </a:pPr>
            <a:r>
              <a:t>• Integration Layer: 90% ✅ Complete</a:t>
            </a:r>
          </a:p>
          <a:p>
            <a:pPr>
              <a:spcBef>
                <a:spcPts val="800"/>
              </a:spcBef>
              <a:defRPr sz="1800"/>
            </a:pPr>
            <a:r>
              <a:t>• Frontend UI: 100% ✅ Fully Functional</a:t>
            </a:r>
          </a:p>
          <a:p>
            <a:br/>
            <a:r>
              <a:t>Last Updated: February 19, 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22A800-A956-472B-BAAD-E8A377121528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AABC14BA-D3E2-C496-5F27-B90849780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Complete Workflow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4731" cy="369332"/>
          </a:xfrm>
          <a:prstGeom prst="rect">
            <a:avLst/>
          </a:prstGeom>
          <a:solidFill>
            <a:srgbClr val="FAFAFA"/>
          </a:solidFill>
        </p:spPr>
        <p:txBody>
          <a:bodyPr wrap="none">
            <a:spAutoFit/>
          </a:bodyPr>
          <a:lstStyle/>
          <a:p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982EC-9488-00B4-1623-A0A95FCA63D5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C724CFEC-560A-EC93-DBDD-3655AF123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51DF0-57A0-6CF8-27FF-EB5BB46D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72" y="1318260"/>
            <a:ext cx="7483055" cy="55397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1800"/>
            </a:pPr>
            <a:r>
              <a:t>JIE Detection Performance:</a:t>
            </a:r>
          </a:p>
          <a:p>
            <a:pPr lvl="1">
              <a:defRPr sz="1800"/>
            </a:pPr>
            <a:r>
              <a:t>Overhead: 12-15% with last-layer gradients</a:t>
            </a:r>
          </a:p>
          <a:p>
            <a:pPr lvl="1">
              <a:defRPr sz="1800"/>
            </a:pPr>
            <a:r>
              <a:t>Accuracy: ~95% on backdoor trigger detection</a:t>
            </a:r>
          </a:p>
          <a:p>
            <a:pPr lvl="1">
              <a:defRPr sz="1800"/>
            </a:pPr>
            <a:r>
              <a:t>Adaptive sampling: 30% of samples per epoch</a:t>
            </a:r>
          </a:p>
          <a:p>
            <a:pPr lvl="1">
              <a:defRPr sz="1800"/>
            </a:pPr>
            <a:r>
              <a:t>Gradient checkpointing: 40% memory reduction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RLOD Detection Performance:</a:t>
            </a:r>
          </a:p>
          <a:p>
            <a:pPr lvl="1">
              <a:defRPr sz="1800"/>
            </a:pPr>
            <a:r>
              <a:t>Embedding extraction: Fast with GPU acceleration</a:t>
            </a:r>
          </a:p>
          <a:p>
            <a:pPr lvl="1">
              <a:defRPr sz="1800"/>
            </a:pPr>
            <a:r>
              <a:t>kNN with FAISS: Handles large datasets efficiently</a:t>
            </a:r>
          </a:p>
          <a:p>
            <a:pPr lvl="1">
              <a:defRPr sz="1800"/>
            </a:pPr>
            <a:r>
              <a:t>Combined with JIE: Better coverage of poisoning types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Overall System:</a:t>
            </a:r>
          </a:p>
          <a:p>
            <a:pPr lvl="1">
              <a:defRPr sz="1800"/>
            </a:pPr>
            <a:r>
              <a:t>API Response: &lt;60s for sync requests</a:t>
            </a:r>
          </a:p>
          <a:p>
            <a:pPr lvl="1">
              <a:defRPr sz="1800"/>
            </a:pPr>
            <a:r>
              <a:t>Batch processing: Up to 1000 samples per request</a:t>
            </a:r>
          </a:p>
          <a:p>
            <a:pPr lvl="1">
              <a:defRPr sz="1800"/>
            </a:pPr>
            <a:r>
              <a:t>Goal: Block poisoning attacks with ≤250 samples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873B6C-1FED-6F22-5041-7B485583EF26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6164A466-F798-2215-B663-D33D6C1B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pPr>
              <a:defRPr sz="1800"/>
            </a:pPr>
            <a:r>
              <a:t>Backend:</a:t>
            </a:r>
          </a:p>
          <a:p>
            <a:pPr lvl="1">
              <a:defRPr sz="1800"/>
            </a:pPr>
            <a:r>
              <a:t>FastAPI - RESTful API framework</a:t>
            </a:r>
          </a:p>
          <a:p>
            <a:pPr lvl="1">
              <a:defRPr sz="1800"/>
            </a:pPr>
            <a:r>
              <a:t>Celery - Distributed task queue</a:t>
            </a:r>
          </a:p>
          <a:p>
            <a:pPr lvl="1">
              <a:defRPr sz="1800"/>
            </a:pPr>
            <a:r>
              <a:t>Redis - Caching &amp; message broker</a:t>
            </a:r>
          </a:p>
          <a:p>
            <a:pPr lvl="1">
              <a:defRPr sz="1800"/>
            </a:pPr>
            <a:r>
              <a:t>PyTorch - Deep learning framework</a:t>
            </a:r>
          </a:p>
          <a:p>
            <a:pPr lvl="1">
              <a:defRPr sz="1800"/>
            </a:pPr>
            <a:r>
              <a:t>Transformers - HuggingFace models</a:t>
            </a:r>
          </a:p>
          <a:p>
            <a:pPr lvl="1">
              <a:defRPr sz="1800"/>
            </a:pPr>
            <a:r>
              <a:t>FAISS - Fast similarity search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Frontend:</a:t>
            </a:r>
          </a:p>
          <a:p>
            <a:pPr lvl="1">
              <a:defRPr sz="1800"/>
            </a:pPr>
            <a:r>
              <a:t>React - UI framework</a:t>
            </a:r>
          </a:p>
          <a:p>
            <a:pPr lvl="1">
              <a:defRPr sz="1800"/>
            </a:pPr>
            <a:r>
              <a:t>Vite - Build tool</a:t>
            </a:r>
          </a:p>
          <a:p>
            <a:pPr lvl="1">
              <a:defRPr sz="1800"/>
            </a:pPr>
            <a:r>
              <a:t>Tailwind CSS - Styling</a:t>
            </a:r>
          </a:p>
          <a:p>
            <a:pPr lvl="1">
              <a:defRPr sz="1800"/>
            </a:pPr>
            <a:r>
              <a:t>Axios - HTTP client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Model &amp; Data:</a:t>
            </a:r>
          </a:p>
          <a:p>
            <a:pPr lvl="1">
              <a:defRPr sz="1800"/>
            </a:pPr>
            <a:r>
              <a:t>GPT-2-Medium (base model)</a:t>
            </a:r>
          </a:p>
          <a:p>
            <a:pPr lvl="1">
              <a:defRPr sz="1800"/>
            </a:pPr>
            <a:r>
              <a:t>WikiText-103 (training dataset)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913A7E-B344-DACB-3B84-CCD15F153A40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2BB6FF4D-560A-E74A-79BE-81C114C69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0422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3422"/>
            <a:ext cx="8229600" cy="3984523"/>
          </a:xfrm>
        </p:spPr>
        <p:txBody>
          <a:bodyPr>
            <a:noAutofit/>
          </a:bodyPr>
          <a:lstStyle/>
          <a:p>
            <a:pPr>
              <a:defRPr sz="2800" b="1">
                <a:solidFill>
                  <a:srgbClr val="0078D7"/>
                </a:solidFill>
              </a:defRPr>
            </a:pPr>
            <a:r>
              <a:rPr sz="1600" dirty="0"/>
              <a:t>📊 PROJECT PROGRESS: 92% Complete</a:t>
            </a:r>
            <a:endParaRPr lang="en-IN" sz="1600" dirty="0"/>
          </a:p>
          <a:p>
            <a:pPr marL="0" indent="0">
              <a:buNone/>
              <a:defRPr sz="2800" b="1">
                <a:solidFill>
                  <a:srgbClr val="0078D7"/>
                </a:solidFill>
              </a:defRPr>
            </a:pPr>
            <a:endParaRPr lang="en-IN" sz="1600" dirty="0"/>
          </a:p>
          <a:p>
            <a:pPr marL="0" indent="0">
              <a:spcBef>
                <a:spcPts val="800"/>
              </a:spcBef>
              <a:buNone/>
              <a:defRPr sz="1400" b="1"/>
            </a:pPr>
            <a:r>
              <a:rPr sz="1600" dirty="0"/>
              <a:t>• JIE Detection System</a:t>
            </a:r>
          </a:p>
          <a:p>
            <a:pPr marL="457200" lvl="1" indent="0">
              <a:spcBef>
                <a:spcPts val="200"/>
              </a:spcBef>
              <a:buNone/>
              <a:defRPr sz="1300"/>
            </a:pPr>
            <a:r>
              <a:rPr sz="1600" dirty="0"/>
              <a:t> 95% | ✅ Production Ready</a:t>
            </a:r>
          </a:p>
          <a:p>
            <a:pPr marL="914400" lvl="2" indent="0">
              <a:buNone/>
              <a:defRPr sz="1100" i="1"/>
            </a:pPr>
            <a:r>
              <a:rPr sz="1600" dirty="0"/>
              <a:t> Pending: ⏳ Adaptive scheduling system</a:t>
            </a:r>
          </a:p>
          <a:p>
            <a:pPr marL="0" indent="0">
              <a:spcBef>
                <a:spcPts val="800"/>
              </a:spcBef>
              <a:buNone/>
              <a:defRPr sz="1400" b="1"/>
            </a:pPr>
            <a:r>
              <a:rPr sz="1600" dirty="0"/>
              <a:t>• RLOD Detection System</a:t>
            </a:r>
            <a:endParaRPr lang="en-IN" sz="1600" dirty="0"/>
          </a:p>
          <a:p>
            <a:pPr marL="457200" lvl="1" indent="0">
              <a:spcBef>
                <a:spcPts val="200"/>
              </a:spcBef>
              <a:buNone/>
              <a:defRPr sz="1300"/>
            </a:pPr>
            <a:r>
              <a:rPr lang="en-IN" sz="1600" dirty="0"/>
              <a:t>  95% | ✅ Complete &amp; Integrated</a:t>
            </a:r>
          </a:p>
          <a:p>
            <a:pPr marL="914400" lvl="2" indent="0">
              <a:buNone/>
              <a:defRPr sz="1100" i="1"/>
            </a:pPr>
            <a:r>
              <a:rPr sz="1600" dirty="0"/>
              <a:t>  Pending: ✅ None</a:t>
            </a:r>
          </a:p>
          <a:p>
            <a:pPr marL="0" indent="0">
              <a:spcBef>
                <a:spcPts val="800"/>
              </a:spcBef>
              <a:buNone/>
              <a:defRPr sz="1400" b="1"/>
            </a:pPr>
            <a:r>
              <a:rPr sz="1600" dirty="0"/>
              <a:t>• Robust Training System</a:t>
            </a:r>
          </a:p>
          <a:p>
            <a:pPr marL="457200" lvl="1" indent="0">
              <a:spcBef>
                <a:spcPts val="200"/>
              </a:spcBef>
              <a:buNone/>
              <a:defRPr sz="1300"/>
            </a:pPr>
            <a:r>
              <a:rPr sz="1600" dirty="0"/>
              <a:t>  85% | ⚙️ Core Complete</a:t>
            </a:r>
          </a:p>
          <a:p>
            <a:pPr marL="914400" lvl="2" indent="0">
              <a:buNone/>
              <a:defRPr sz="1100" i="1"/>
            </a:pPr>
            <a:r>
              <a:rPr lang="en-IN" sz="1600" dirty="0"/>
              <a:t>  </a:t>
            </a:r>
            <a:r>
              <a:rPr sz="1600" dirty="0"/>
              <a:t>Pending: ⏳ Integration testing, Deployment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BE445C-1084-0E6E-156C-48432A3CAB34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A60D974F-9616-6E46-3D08-7EC9E4EA9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81D6B-1DE5-8CEE-066D-EF5D4EDE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BF43-9863-9612-61E3-FAE5846D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1482"/>
            <a:ext cx="8229600" cy="1143000"/>
          </a:xfrm>
        </p:spPr>
        <p:txBody>
          <a:bodyPr>
            <a:normAutofit/>
          </a:bodyPr>
          <a:lstStyle/>
          <a:p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486F-862F-6928-FD7A-0693D5BE7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4832"/>
            <a:ext cx="8229600" cy="4668529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defRPr sz="1400" b="1"/>
            </a:pPr>
            <a:r>
              <a:rPr lang="en-US" sz="1600" dirty="0"/>
              <a:t>• Integration Layer</a:t>
            </a:r>
          </a:p>
          <a:p>
            <a:pPr marL="457200" lvl="1" indent="0">
              <a:spcBef>
                <a:spcPts val="200"/>
              </a:spcBef>
              <a:buNone/>
              <a:defRPr sz="1300"/>
            </a:pPr>
            <a:r>
              <a:rPr lang="en-US" sz="1600" dirty="0"/>
              <a:t>90% | ✅ Complete</a:t>
            </a:r>
          </a:p>
          <a:p>
            <a:pPr marL="914400" lvl="2" indent="0">
              <a:buNone/>
              <a:defRPr sz="1100" i="1"/>
            </a:pPr>
            <a:r>
              <a:rPr lang="en-US" sz="1600" dirty="0"/>
              <a:t>Pending: ✅ None</a:t>
            </a:r>
          </a:p>
          <a:p>
            <a:pPr>
              <a:spcBef>
                <a:spcPts val="800"/>
              </a:spcBef>
              <a:defRPr sz="1400" b="1"/>
            </a:pPr>
            <a:r>
              <a:rPr lang="en-US" sz="1600" dirty="0"/>
              <a:t>• Frontend UI</a:t>
            </a:r>
          </a:p>
          <a:p>
            <a:pPr marL="457200" lvl="1" indent="0">
              <a:spcBef>
                <a:spcPts val="200"/>
              </a:spcBef>
              <a:buNone/>
              <a:defRPr sz="1300"/>
            </a:pPr>
            <a:r>
              <a:rPr lang="en-US" sz="1600" dirty="0"/>
              <a:t>100% | ✅ Fully Functional</a:t>
            </a:r>
          </a:p>
          <a:p>
            <a:pPr marL="914400" lvl="2" indent="0">
              <a:buNone/>
              <a:defRPr sz="1100" i="1"/>
            </a:pPr>
            <a:r>
              <a:rPr lang="en-US" sz="1600" dirty="0"/>
              <a:t>Pending: ✅ None</a:t>
            </a:r>
            <a:endParaRPr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D77C-DE8F-5F26-11C7-5B2900502409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00A75005-B612-11B7-D98B-C548A6901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57167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pPr>
              <a:defRPr sz="1800"/>
            </a:pPr>
            <a:r>
              <a:t>Achievements:</a:t>
            </a:r>
          </a:p>
          <a:p>
            <a:pPr lvl="1">
              <a:defRPr sz="1800"/>
            </a:pPr>
            <a:r>
              <a:t>Built custom ML models for backdoor detection</a:t>
            </a:r>
          </a:p>
          <a:p>
            <a:pPr lvl="1">
              <a:defRPr sz="1800"/>
            </a:pPr>
            <a:r>
              <a:t>Implemented two-layer defense (JIE + RLOD)</a:t>
            </a:r>
          </a:p>
          <a:p>
            <a:pPr lvl="1">
              <a:defRPr sz="1800"/>
            </a:pPr>
            <a:r>
              <a:t>Created production-ready API and UI</a:t>
            </a:r>
          </a:p>
          <a:p>
            <a:pPr lvl="1">
              <a:defRPr sz="1800"/>
            </a:pPr>
            <a:r>
              <a:t>Optimized performance with last-layer gradients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Future Enhancements:</a:t>
            </a:r>
          </a:p>
          <a:p>
            <a:pPr lvl="1">
              <a:defRPr sz="1800"/>
            </a:pPr>
            <a:r>
              <a:t>Expand to other model architectures (BERT, T5)</a:t>
            </a:r>
          </a:p>
          <a:p>
            <a:pPr lvl="1">
              <a:defRPr sz="1800"/>
            </a:pPr>
            <a:r>
              <a:t>Real-time streaming detection</a:t>
            </a:r>
          </a:p>
          <a:p>
            <a:pPr lvl="1">
              <a:defRPr sz="1800"/>
            </a:pPr>
            <a:r>
              <a:t>Auto-mitigation with model fine-tuning</a:t>
            </a:r>
          </a:p>
          <a:p>
            <a:pPr lvl="1">
              <a:defRPr sz="1800"/>
            </a:pPr>
            <a:r>
              <a:t>Enhanced visualization tools</a:t>
            </a:r>
          </a:p>
          <a:p>
            <a:pPr lvl="1">
              <a:defRPr sz="1800"/>
            </a:pPr>
            <a:r>
              <a:t>Scalability testing with larger datasets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Impact:</a:t>
            </a:r>
          </a:p>
          <a:p>
            <a:pPr lvl="1">
              <a:defRPr sz="1800"/>
            </a:pPr>
            <a:r>
              <a:t>Protect AI models from data poisoning attacks</a:t>
            </a:r>
          </a:p>
          <a:p>
            <a:pPr lvl="1">
              <a:defRPr sz="1800"/>
            </a:pPr>
            <a:r>
              <a:t>Ensure model safety and reliability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7BE99C-0C3D-0969-C0C6-EE9388CCD0BD}"/>
              </a:ext>
            </a:extLst>
          </p:cNvPr>
          <p:cNvSpPr/>
          <p:nvPr/>
        </p:nvSpPr>
        <p:spPr>
          <a:xfrm>
            <a:off x="0" y="0"/>
            <a:ext cx="9144000" cy="365762"/>
          </a:xfrm>
          <a:prstGeom prst="rect">
            <a:avLst/>
          </a:prstGeom>
          <a:solidFill>
            <a:srgbClr val="003366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22860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2743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32004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36576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" name="Picture 4" descr="Picture 4">
            <a:extLst>
              <a:ext uri="{FF2B5EF4-FFF2-40B4-BE49-F238E27FC236}">
                <a16:creationId xmlns:a16="http://schemas.microsoft.com/office/drawing/2014/main" id="{93364AF1-94D3-38E7-413A-C44C2851E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231" y="-24095"/>
            <a:ext cx="1916769" cy="411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2182</Words>
  <Application>Microsoft Office PowerPoint</Application>
  <PresentationFormat>On-screen Show (4:3)</PresentationFormat>
  <Paragraphs>191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Google Sans</vt:lpstr>
      <vt:lpstr>Google Sans Text</vt:lpstr>
      <vt:lpstr>Office Theme</vt:lpstr>
      <vt:lpstr>Phase–2 Mini Project Presentation</vt:lpstr>
      <vt:lpstr>PowerPoint Presentation</vt:lpstr>
      <vt:lpstr>AI Data Poisoning Mitigation System</vt:lpstr>
      <vt:lpstr>Project Overview</vt:lpstr>
      <vt:lpstr>PowerPoint Presentation</vt:lpstr>
      <vt:lpstr>PowerPoint Presentation</vt:lpstr>
      <vt:lpstr>JIE Algorithm: Joint Influence Estimation</vt:lpstr>
      <vt:lpstr>PowerPoint Presentation</vt:lpstr>
      <vt:lpstr>PowerPoint Presentation</vt:lpstr>
      <vt:lpstr>RLOD Algorithm: Representation-Level Outlier Detection</vt:lpstr>
      <vt:lpstr>PowerPoint Presentation</vt:lpstr>
      <vt:lpstr>PowerPoint Presentation</vt:lpstr>
      <vt:lpstr>PowerPoint Presentation</vt:lpstr>
      <vt:lpstr>FastAPI Backend Endpoints</vt:lpstr>
      <vt:lpstr>Frontend UI Components (React + Vite)</vt:lpstr>
      <vt:lpstr>PowerPoint Presentation</vt:lpstr>
      <vt:lpstr>System Performance Metrics</vt:lpstr>
      <vt:lpstr>Technology Stack</vt:lpstr>
      <vt:lpstr>Current Status</vt:lpstr>
      <vt:lpstr>Current Status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Kala Devi V S</dc:creator>
  <cp:keywords/>
  <dc:description>generated using python-pptx</dc:description>
  <cp:lastModifiedBy>Avinash V Bhaskaran</cp:lastModifiedBy>
  <cp:revision>4</cp:revision>
  <dcterms:created xsi:type="dcterms:W3CDTF">2013-01-27T09:14:16Z</dcterms:created>
  <dcterms:modified xsi:type="dcterms:W3CDTF">2026-02-19T09:16:18Z</dcterms:modified>
  <cp:category/>
</cp:coreProperties>
</file>